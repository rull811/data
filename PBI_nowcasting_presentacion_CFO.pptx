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Error típico (pp)</c:v>
                </c:pt>
              </c:strCache>
            </c:strRef>
          </c:tx>
          <c:spPr>
            <a:solidFill>
              <a:srgbClr val="2E8AA8"/>
            </a:solidFill>
            <a:effectLst/>
          </c:spPr>
          <c:invertIfNegative val="0"/>
          <c:dLbls>
            <c:numFmt formatCode="0.00" sourceLinked="0"/>
            <c:txPr>
              <a:bodyPr/>
              <a:lstStyle/>
              <a:p>
                <a:pPr>
                  <a:defRPr b="1" i="0" strike="noStrike" sz="1200" u="none">
                    <a:solidFill>
                      <a:srgbClr val="1A2A33"/>
                    </a:solidFill>
                    <a:latin typeface="Arial"/>
                  </a:defRPr>
                </a:pPr>
              </a:p>
            </c:txPr>
            <c:showLegendKey val="0"/>
            <c:showVal val="1"/>
            <c:showCatName val="0"/>
            <c:showSerName val="0"/>
            <c:showPercent val="0"/>
            <c:showBubbleSize val="0"/>
            <c:showLeaderLines val="0"/>
          </c:dLbls>
          <c:dPt>
            <c:idx val="0"/>
            <c:invertIfNegative val="0"/>
            <c:bubble3D val="0"/>
            <c:spPr>
              <a:solidFill>
                <a:srgbClr val="2E8AA8"/>
              </a:solidFill>
              <a:effectLst/>
            </c:spPr>
          </c:dPt>
          <c:dPt>
            <c:idx val="1"/>
            <c:invertIfNegative val="0"/>
            <c:bubble3D val="0"/>
            <c:spPr>
              <a:solidFill>
                <a:srgbClr val="9FB6BF"/>
              </a:solidFill>
              <a:effectLst/>
            </c:spPr>
          </c:dPt>
          <c:dPt>
            <c:idx val="2"/>
            <c:invertIfNegative val="0"/>
            <c:bubble3D val="0"/>
            <c:spPr>
              <a:solidFill>
                <a:srgbClr val="9FB6BF"/>
              </a:solidFill>
              <a:effectLst/>
            </c:spPr>
          </c:dPt>
          <c:dPt>
            <c:idx val="3"/>
            <c:invertIfNegative val="0"/>
            <c:bubble3D val="0"/>
            <c:spPr>
              <a:solidFill>
                <a:srgbClr val="C2CDD3"/>
              </a:solidFill>
              <a:effectLst/>
            </c:spPr>
          </c:dPt>
          <c:cat>
            <c:multiLvlStrRef>
              <c:f>Sheet1!$A$2:$A$5</c:f>
              <c:multiLvlStrCache>
                <c:ptCount val="4"/>
                <c:lvl>
                  <c:pt idx="0">
                    <c:v>Nuestro modelo</c:v>
                  </c:pt>
                  <c:pt idx="1">
                    <c:v>Versión anterior</c:v>
                  </c:pt>
                  <c:pt idx="2">
                    <c:v>Método alternativo</c:v>
                  </c:pt>
                  <c:pt idx="3">
                    <c:v>Método simple de referencia</c:v>
                  </c:pt>
                </c:lvl>
              </c:multiLvlStrCache>
            </c:multiLvlStrRef>
          </c:cat>
          <c:val>
            <c:numRef>
              <c:f>Sheet1!$B$2:$B$5</c:f>
              <c:numCache>
                <c:formatCode>General</c:formatCode>
                <c:ptCount val="4"/>
                <c:pt idx="0">
                  <c:v>1.16</c:v>
                </c:pt>
                <c:pt idx="1">
                  <c:v>1.6</c:v>
                </c:pt>
                <c:pt idx="2">
                  <c:v>1.45</c:v>
                </c:pt>
                <c:pt idx="3">
                  <c:v>1.73</c:v>
                </c:pt>
              </c:numCache>
            </c:numRef>
          </c:val>
        </c:ser>
        <c:dLbls>
          <c:numFmt formatCode="0.00" sourceLinked="0"/>
          <c:txPr>
            <a:bodyPr/>
            <a:lstStyle/>
            <a:p>
              <a:pPr>
                <a:defRPr b="1" i="0" strike="noStrike" sz="1200" u="none">
                  <a:solidFill>
                    <a:srgbClr val="1A2A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A33"/>
                </a:solidFill>
                <a:latin typeface="Arial"/>
              </a:defRPr>
            </a:pPr>
            <a:endParaRPr lang="en-US"/>
          </a:p>
        </c:txPr>
        <c:crossAx val="2094734552"/>
        <c:crosses val="autoZero"/>
        <c:auto val="1"/>
        <c:lblAlgn val="ctr"/>
        <c:noMultiLvlLbl val="1"/>
      </c:catAx>
      <c:valAx>
        <c:axId val="2094734552"/>
        <c:scaling>
          <c:orientation val="minMax"/>
          <c:max val="2.1"/>
        </c:scaling>
        <c:delete val="0"/>
        <c:axPos val="b"/>
        <c:majorGridlines>
          <c:spPr>
            <a:ln w="12700" cap="flat">
              <a:solidFill>
                <a:srgbClr val="E8ED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presentación: que el CFO entienda qué hace el modelo, cuánta confianza merece y cómo se usa. No es un pedido de aprobación de automatización.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central: no competimos con el INDEC en precisión, ganamos en tiempo. La pregunta relevante es si esa lectura anticipada es lo bastante confiable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Evitar tecnicismos. Si preguntan cómo extrae el pulso común: es la misma idea que un índice, pero calculado para maximizar lo que comparten las series en vez de fijar pesos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qué importa usar cada mes por separado: un trimestre que arranca mal y termina bien no es igual a uno parejo, aunque el promedio coincida. Esa diferencia es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que sostiene la credibilidad de todo lo que sigue. Si el CFO solo retiene una cosa de la metodología, que sea que no hubo trampa de mirar el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Ojo con el 62%: es la trampa más común al leer estos modelos. Vale la pena detenerse acá, porque muestra que el equipo sabe distinguir señal de artefacto.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típico de 1.16 pp hay que leerlo contra un crecimiento trimestral que se mueve en un rango de ±2 a 4 pp. Mejora clara, pero no es precisión quirúrgica: eso lleva al slide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es el que más confianza construye. Si el CFO percibe que le estamos marcando los límites nosotros mismos, el resto de los números ganan credibilidad.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Mencionar la alerta de 2024-2025 nosotros, antes de que la pregunten. Es la única señal de deterioro que encontramos y tenemos un plan de monitoreo para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se actualizan cada mes al publicarse nuevos indicadores. El segundo trimestre todavía tiene un mes por incorporar, así que puede moverse.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acá: no estamos pidiendo automatizar nada. Estamos proponiendo incorporarlo como insumo de monitoreo y avanzar con la validación económica.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E8AA8"/>
          </a:solidFill>
          <a:ln w="12700">
            <a:solidFill>
              <a:srgbClr val="333333"/>
            </a:solidFill>
            <a:prstDash val="solid"/>
          </a:ln>
        </p:spPr>
      </p:sp>
      <p:sp>
        <p:nvSpPr>
          <p:cNvPr id="3" name="Shape 1"/>
          <p:cNvSpPr/>
          <p:nvPr/>
        </p:nvSpPr>
        <p:spPr>
          <a:xfrm>
            <a:off x="10607040" y="4023360"/>
            <a:ext cx="2743200" cy="2743200"/>
          </a:xfrm>
          <a:prstGeom prst="ellipse">
            <a:avLst/>
          </a:prstGeom>
          <a:solidFill>
            <a:srgbClr val="E8A33D"/>
          </a:solidFill>
          <a:ln w="12700">
            <a:solidFill>
              <a:srgbClr val="333333"/>
            </a:solidFill>
            <a:prstDash val="solid"/>
          </a:ln>
        </p:spPr>
      </p:sp>
      <p:sp>
        <p:nvSpPr>
          <p:cNvPr id="4" name="Text 2"/>
          <p:cNvSpPr/>
          <p:nvPr/>
        </p:nvSpPr>
        <p:spPr>
          <a:xfrm>
            <a:off x="640080" y="2057400"/>
            <a:ext cx="8412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Estimación anticipada del PBI</a:t>
            </a:r>
            <a:endParaRPr lang="en-US" sz="4000" dirty="0"/>
          </a:p>
        </p:txBody>
      </p:sp>
      <p:sp>
        <p:nvSpPr>
          <p:cNvPr id="5" name="Text 3"/>
          <p:cNvSpPr/>
          <p:nvPr/>
        </p:nvSpPr>
        <p:spPr>
          <a:xfrm>
            <a:off x="640080" y="2926080"/>
            <a:ext cx="8229600" cy="73152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Un modelo para leer la actividad económica antes que el dato oficial</a:t>
            </a:r>
            <a:endParaRPr lang="en-US" sz="1800" dirty="0"/>
          </a:p>
        </p:txBody>
      </p:sp>
      <p:sp>
        <p:nvSpPr>
          <p:cNvPr id="6" name="Shape 4"/>
          <p:cNvSpPr/>
          <p:nvPr/>
        </p:nvSpPr>
        <p:spPr>
          <a:xfrm>
            <a:off x="640080" y="3886200"/>
            <a:ext cx="1371600" cy="41148"/>
          </a:xfrm>
          <a:prstGeom prst="rect">
            <a:avLst/>
          </a:prstGeom>
          <a:solidFill>
            <a:srgbClr val="E8A33D"/>
          </a:solidFill>
          <a:ln w="12700">
            <a:solidFill>
              <a:srgbClr val="333333"/>
            </a:solidFill>
            <a:prstDash val="solid"/>
          </a:ln>
        </p:spPr>
      </p:sp>
      <p:sp>
        <p:nvSpPr>
          <p:cNvPr id="7" name="Text 5"/>
          <p:cNvSpPr/>
          <p:nvPr/>
        </p:nvSpPr>
        <p:spPr>
          <a:xfrm>
            <a:off x="640080" y="4206240"/>
            <a:ext cx="8229600" cy="365760"/>
          </a:xfrm>
          <a:prstGeom prst="rect">
            <a:avLst/>
          </a:prstGeom>
          <a:noFill/>
          <a:ln/>
        </p:spPr>
        <p:txBody>
          <a:bodyPr wrap="square" lIns="0" tIns="0" rIns="0" bIns="0" rtlCol="0" anchor="ctr"/>
          <a:lstStyle/>
          <a:p>
            <a:pPr indent="0" marL="0">
              <a:buNone/>
            </a:pPr>
            <a:r>
              <a:rPr lang="en-US" sz="1300" dirty="0">
                <a:solidFill>
                  <a:srgbClr val="8FB6C4"/>
                </a:solidFill>
                <a:latin typeface="Calibri" pitchFamily="34" charset="0"/>
                <a:ea typeface="Calibri" pitchFamily="34" charset="-122"/>
                <a:cs typeface="Calibri" pitchFamily="34" charset="-120"/>
              </a:rPr>
              <a:t>Presentación ejecutiva  ·  Equipo de Research Cuantitativo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El problema: el dato oficial llega tarde</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Cuando el INDEC publica el PBI de un trimestre, ya pasaron diez semanas de decisiones</a:t>
            </a:r>
            <a:endParaRPr lang="en-US" sz="1500" dirty="0"/>
          </a:p>
        </p:txBody>
      </p:sp>
      <p:sp>
        <p:nvSpPr>
          <p:cNvPr id="4" name="Shape 2"/>
          <p:cNvSpPr/>
          <p:nvPr/>
        </p:nvSpPr>
        <p:spPr>
          <a:xfrm>
            <a:off x="640080" y="2761488"/>
            <a:ext cx="10241280" cy="32004"/>
          </a:xfrm>
          <a:prstGeom prst="rect">
            <a:avLst/>
          </a:prstGeom>
          <a:solidFill>
            <a:srgbClr val="D6DEE2"/>
          </a:solidFill>
          <a:ln w="12700">
            <a:solidFill>
              <a:srgbClr val="333333"/>
            </a:solidFill>
            <a:prstDash val="solid"/>
          </a:ln>
        </p:spPr>
      </p:sp>
      <p:sp>
        <p:nvSpPr>
          <p:cNvPr id="5" name="Shape 3"/>
          <p:cNvSpPr/>
          <p:nvPr/>
        </p:nvSpPr>
        <p:spPr>
          <a:xfrm>
            <a:off x="640080" y="2569464"/>
            <a:ext cx="457200" cy="457200"/>
          </a:xfrm>
          <a:prstGeom prst="ellipse">
            <a:avLst/>
          </a:prstGeom>
          <a:solidFill>
            <a:srgbClr val="2E8AA8"/>
          </a:solidFill>
          <a:ln w="25400">
            <a:solidFill>
              <a:srgbClr val="FFFFFF"/>
            </a:solidFill>
            <a:prstDash val="solid"/>
          </a:ln>
        </p:spPr>
      </p:sp>
      <p:sp>
        <p:nvSpPr>
          <p:cNvPr id="6" name="Text 4"/>
          <p:cNvSpPr/>
          <p:nvPr/>
        </p:nvSpPr>
        <p:spPr>
          <a:xfrm>
            <a:off x="-137160" y="3154680"/>
            <a:ext cx="2011680" cy="685800"/>
          </a:xfrm>
          <a:prstGeom prst="rect">
            <a:avLst/>
          </a:prstGeom>
          <a:noFill/>
          <a:ln/>
        </p:spPr>
        <p:txBody>
          <a:bodyPr wrap="square" lIns="0" tIns="0" rIns="0" bIns="0" rtlCol="0" anchor="ctr"/>
          <a:lstStyle/>
          <a:p>
            <a:pPr algn="ctr" indent="0" marL="0">
              <a:buNone/>
            </a:pPr>
            <a:r>
              <a:rPr lang="en-US" sz="1250" dirty="0">
                <a:solidFill>
                  <a:srgbClr val="1A2A33"/>
                </a:solidFill>
                <a:latin typeface="Calibri" pitchFamily="34" charset="0"/>
                <a:ea typeface="Calibri" pitchFamily="34" charset="-122"/>
                <a:cs typeface="Calibri" pitchFamily="34" charset="-120"/>
              </a:rPr>
              <a:t>Cierra el</a:t>
            </a:r>
            <a:endParaRPr lang="en-US" sz="1250" dirty="0"/>
          </a:p>
          <a:p>
            <a:pPr algn="ctr" indent="0" marL="0">
              <a:buNone/>
            </a:pPr>
            <a:r>
              <a:rPr lang="en-US" sz="1250" dirty="0">
                <a:solidFill>
                  <a:srgbClr val="1A2A33"/>
                </a:solidFill>
                <a:latin typeface="Calibri" pitchFamily="34" charset="0"/>
                <a:ea typeface="Calibri" pitchFamily="34" charset="-122"/>
                <a:cs typeface="Calibri" pitchFamily="34" charset="-120"/>
              </a:rPr>
              <a:t>trimestre</a:t>
            </a:r>
            <a:endParaRPr lang="en-US" sz="1250" dirty="0"/>
          </a:p>
        </p:txBody>
      </p:sp>
      <p:sp>
        <p:nvSpPr>
          <p:cNvPr id="7" name="Shape 5"/>
          <p:cNvSpPr/>
          <p:nvPr/>
        </p:nvSpPr>
        <p:spPr>
          <a:xfrm>
            <a:off x="3931920" y="2569464"/>
            <a:ext cx="457200" cy="457200"/>
          </a:xfrm>
          <a:prstGeom prst="ellipse">
            <a:avLst/>
          </a:prstGeom>
          <a:solidFill>
            <a:srgbClr val="E8A33D"/>
          </a:solidFill>
          <a:ln w="25400">
            <a:solidFill>
              <a:srgbClr val="FFFFFF"/>
            </a:solidFill>
            <a:prstDash val="solid"/>
          </a:ln>
        </p:spPr>
      </p:sp>
      <p:sp>
        <p:nvSpPr>
          <p:cNvPr id="8" name="Text 6"/>
          <p:cNvSpPr/>
          <p:nvPr/>
        </p:nvSpPr>
        <p:spPr>
          <a:xfrm>
            <a:off x="3154680" y="3154680"/>
            <a:ext cx="2011680" cy="685800"/>
          </a:xfrm>
          <a:prstGeom prst="rect">
            <a:avLst/>
          </a:prstGeom>
          <a:noFill/>
          <a:ln/>
        </p:spPr>
        <p:txBody>
          <a:bodyPr wrap="square" lIns="0" tIns="0" rIns="0" bIns="0" rtlCol="0" anchor="ctr"/>
          <a:lstStyle/>
          <a:p>
            <a:pPr algn="ctr" indent="0" marL="0">
              <a:buNone/>
            </a:pPr>
            <a:r>
              <a:rPr lang="en-US" sz="1250" dirty="0">
                <a:solidFill>
                  <a:srgbClr val="1A2A33"/>
                </a:solidFill>
                <a:latin typeface="Calibri" pitchFamily="34" charset="0"/>
                <a:ea typeface="Calibri" pitchFamily="34" charset="-122"/>
                <a:cs typeface="Calibri" pitchFamily="34" charset="-120"/>
              </a:rPr>
              <a:t>El modelo ya</a:t>
            </a:r>
            <a:endParaRPr lang="en-US" sz="1250" dirty="0"/>
          </a:p>
          <a:p>
            <a:pPr algn="ctr" indent="0" marL="0">
              <a:buNone/>
            </a:pPr>
            <a:r>
              <a:rPr lang="en-US" sz="1250" dirty="0">
                <a:solidFill>
                  <a:srgbClr val="1A2A33"/>
                </a:solidFill>
                <a:latin typeface="Calibri" pitchFamily="34" charset="0"/>
                <a:ea typeface="Calibri" pitchFamily="34" charset="-122"/>
                <a:cs typeface="Calibri" pitchFamily="34" charset="-120"/>
              </a:rPr>
              <a:t>da su lectura</a:t>
            </a:r>
            <a:endParaRPr lang="en-US" sz="1250" dirty="0"/>
          </a:p>
        </p:txBody>
      </p:sp>
      <p:sp>
        <p:nvSpPr>
          <p:cNvPr id="9" name="Shape 7"/>
          <p:cNvSpPr/>
          <p:nvPr/>
        </p:nvSpPr>
        <p:spPr>
          <a:xfrm>
            <a:off x="9784080" y="2569464"/>
            <a:ext cx="457200" cy="457200"/>
          </a:xfrm>
          <a:prstGeom prst="ellipse">
            <a:avLst/>
          </a:prstGeom>
          <a:solidFill>
            <a:srgbClr val="0D3B4F"/>
          </a:solidFill>
          <a:ln w="25400">
            <a:solidFill>
              <a:srgbClr val="FFFFFF"/>
            </a:solidFill>
            <a:prstDash val="solid"/>
          </a:ln>
        </p:spPr>
      </p:sp>
      <p:sp>
        <p:nvSpPr>
          <p:cNvPr id="10" name="Text 8"/>
          <p:cNvSpPr/>
          <p:nvPr/>
        </p:nvSpPr>
        <p:spPr>
          <a:xfrm>
            <a:off x="9006840" y="3154680"/>
            <a:ext cx="2011680" cy="685800"/>
          </a:xfrm>
          <a:prstGeom prst="rect">
            <a:avLst/>
          </a:prstGeom>
          <a:noFill/>
          <a:ln/>
        </p:spPr>
        <p:txBody>
          <a:bodyPr wrap="square" lIns="0" tIns="0" rIns="0" bIns="0" rtlCol="0" anchor="ctr"/>
          <a:lstStyle/>
          <a:p>
            <a:pPr algn="ctr" indent="0" marL="0">
              <a:buNone/>
            </a:pPr>
            <a:r>
              <a:rPr lang="en-US" sz="1250" dirty="0">
                <a:solidFill>
                  <a:srgbClr val="1A2A33"/>
                </a:solidFill>
                <a:latin typeface="Calibri" pitchFamily="34" charset="0"/>
                <a:ea typeface="Calibri" pitchFamily="34" charset="-122"/>
                <a:cs typeface="Calibri" pitchFamily="34" charset="-120"/>
              </a:rPr>
              <a:t>Recién ahora</a:t>
            </a:r>
            <a:endParaRPr lang="en-US" sz="1250" dirty="0"/>
          </a:p>
          <a:p>
            <a:pPr algn="ctr" indent="0" marL="0">
              <a:buNone/>
            </a:pPr>
            <a:r>
              <a:rPr lang="en-US" sz="1250" dirty="0">
                <a:solidFill>
                  <a:srgbClr val="1A2A33"/>
                </a:solidFill>
                <a:latin typeface="Calibri" pitchFamily="34" charset="0"/>
                <a:ea typeface="Calibri" pitchFamily="34" charset="-122"/>
                <a:cs typeface="Calibri" pitchFamily="34" charset="-120"/>
              </a:rPr>
              <a:t>sale el dato oficial</a:t>
            </a:r>
            <a:endParaRPr lang="en-US" sz="1250" dirty="0"/>
          </a:p>
        </p:txBody>
      </p:sp>
      <p:sp>
        <p:nvSpPr>
          <p:cNvPr id="11" name="Shape 9"/>
          <p:cNvSpPr/>
          <p:nvPr/>
        </p:nvSpPr>
        <p:spPr>
          <a:xfrm>
            <a:off x="1097280" y="2775204"/>
            <a:ext cx="8686800" cy="41148"/>
          </a:xfrm>
          <a:prstGeom prst="rect">
            <a:avLst/>
          </a:prstGeom>
          <a:solidFill>
            <a:srgbClr val="E8A33D"/>
          </a:solidFill>
          <a:ln w="12700">
            <a:solidFill>
              <a:srgbClr val="333333"/>
            </a:solidFill>
            <a:prstDash val="solid"/>
          </a:ln>
        </p:spPr>
      </p:sp>
      <p:sp>
        <p:nvSpPr>
          <p:cNvPr id="12" name="Text 10"/>
          <p:cNvSpPr/>
          <p:nvPr/>
        </p:nvSpPr>
        <p:spPr>
          <a:xfrm>
            <a:off x="4206240" y="2148840"/>
            <a:ext cx="3108960" cy="365760"/>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 10 semanas de retraso</a:t>
            </a:r>
            <a:endParaRPr lang="en-US" sz="1400" dirty="0"/>
          </a:p>
        </p:txBody>
      </p:sp>
      <p:sp>
        <p:nvSpPr>
          <p:cNvPr id="13" name="Shape 11"/>
          <p:cNvSpPr/>
          <p:nvPr/>
        </p:nvSpPr>
        <p:spPr>
          <a:xfrm>
            <a:off x="640080" y="4160520"/>
            <a:ext cx="4937760" cy="1600200"/>
          </a:xfrm>
          <a:prstGeom prst="roundRect">
            <a:avLst>
              <a:gd name="adj" fmla="val 5143"/>
            </a:avLst>
          </a:prstGeom>
          <a:solidFill>
            <a:srgbClr val="F4F7F8"/>
          </a:solidFill>
          <a:ln w="12700">
            <a:solidFill>
              <a:srgbClr val="F4F7F8"/>
            </a:solidFill>
            <a:prstDash val="solid"/>
          </a:ln>
        </p:spPr>
      </p:sp>
      <p:sp>
        <p:nvSpPr>
          <p:cNvPr id="14" name="Text 12"/>
          <p:cNvSpPr/>
          <p:nvPr/>
        </p:nvSpPr>
        <p:spPr>
          <a:xfrm>
            <a:off x="914400" y="4370832"/>
            <a:ext cx="4389120" cy="320040"/>
          </a:xfrm>
          <a:prstGeom prst="rect">
            <a:avLst/>
          </a:prstGeom>
          <a:noFill/>
          <a:ln/>
        </p:spPr>
        <p:txBody>
          <a:bodyPr wrap="square" lIns="0" tIns="0" rIns="0" bIns="0" rtlCol="0" anchor="ctr"/>
          <a:lstStyle/>
          <a:p>
            <a:pPr indent="0" marL="0">
              <a:buNone/>
            </a:pPr>
            <a:r>
              <a:rPr lang="en-US" sz="1500" b="1" dirty="0">
                <a:solidFill>
                  <a:srgbClr val="1A2A33"/>
                </a:solidFill>
                <a:latin typeface="Calibri" pitchFamily="34" charset="0"/>
                <a:ea typeface="Calibri" pitchFamily="34" charset="-122"/>
                <a:cs typeface="Calibri" pitchFamily="34" charset="-120"/>
              </a:rPr>
              <a:t>Qué significa en la práctica</a:t>
            </a:r>
            <a:endParaRPr lang="en-US" sz="1500" dirty="0"/>
          </a:p>
        </p:txBody>
      </p:sp>
      <p:sp>
        <p:nvSpPr>
          <p:cNvPr id="15" name="Text 13"/>
          <p:cNvSpPr/>
          <p:nvPr/>
        </p:nvSpPr>
        <p:spPr>
          <a:xfrm>
            <a:off x="914400" y="4754880"/>
            <a:ext cx="4434840" cy="868680"/>
          </a:xfrm>
          <a:prstGeom prst="rect">
            <a:avLst/>
          </a:prstGeom>
          <a:noFill/>
          <a:ln/>
        </p:spPr>
        <p:txBody>
          <a:bodyPr wrap="square" lIns="0" tIns="0" rIns="0" bIns="0" rtlCol="0" anchor="ctr"/>
          <a:lstStyle/>
          <a:p>
            <a:pPr indent="0" marL="0">
              <a:buNone/>
            </a:pPr>
            <a:r>
              <a:rPr lang="en-US" sz="1350" dirty="0">
                <a:solidFill>
                  <a:srgbClr val="5A6B75"/>
                </a:solidFill>
                <a:latin typeface="Calibri" pitchFamily="34" charset="0"/>
                <a:ea typeface="Calibri" pitchFamily="34" charset="-122"/>
                <a:cs typeface="Calibri" pitchFamily="34" charset="-120"/>
              </a:rPr>
              <a:t>Decisiones de exposición, cobertura y presupuesto se toman a ciegas sobre el trimestre en curso.</a:t>
            </a:r>
            <a:endParaRPr lang="en-US" sz="1350" dirty="0"/>
          </a:p>
        </p:txBody>
      </p:sp>
      <p:sp>
        <p:nvSpPr>
          <p:cNvPr id="16" name="Shape 14"/>
          <p:cNvSpPr/>
          <p:nvPr/>
        </p:nvSpPr>
        <p:spPr>
          <a:xfrm>
            <a:off x="5943600" y="4160520"/>
            <a:ext cx="4937760" cy="1600200"/>
          </a:xfrm>
          <a:prstGeom prst="roundRect">
            <a:avLst>
              <a:gd name="adj" fmla="val 5143"/>
            </a:avLst>
          </a:prstGeom>
          <a:solidFill>
            <a:srgbClr val="F4F7F8"/>
          </a:solidFill>
          <a:ln w="12700">
            <a:solidFill>
              <a:srgbClr val="F4F7F8"/>
            </a:solidFill>
            <a:prstDash val="solid"/>
          </a:ln>
        </p:spPr>
      </p:sp>
      <p:sp>
        <p:nvSpPr>
          <p:cNvPr id="17" name="Text 15"/>
          <p:cNvSpPr/>
          <p:nvPr/>
        </p:nvSpPr>
        <p:spPr>
          <a:xfrm>
            <a:off x="6217920" y="4370832"/>
            <a:ext cx="4389120" cy="320040"/>
          </a:xfrm>
          <a:prstGeom prst="rect">
            <a:avLst/>
          </a:prstGeom>
          <a:noFill/>
          <a:ln/>
        </p:spPr>
        <p:txBody>
          <a:bodyPr wrap="square" lIns="0" tIns="0" rIns="0" bIns="0" rtlCol="0" anchor="ctr"/>
          <a:lstStyle/>
          <a:p>
            <a:pPr indent="0" marL="0">
              <a:buNone/>
            </a:pPr>
            <a:r>
              <a:rPr lang="en-US" sz="1500" b="1" dirty="0">
                <a:solidFill>
                  <a:srgbClr val="1A2A33"/>
                </a:solidFill>
                <a:latin typeface="Calibri" pitchFamily="34" charset="0"/>
                <a:ea typeface="Calibri" pitchFamily="34" charset="-122"/>
                <a:cs typeface="Calibri" pitchFamily="34" charset="-120"/>
              </a:rPr>
              <a:t>Qué aporta el modelo</a:t>
            </a:r>
            <a:endParaRPr lang="en-US" sz="1500" dirty="0"/>
          </a:p>
        </p:txBody>
      </p:sp>
      <p:sp>
        <p:nvSpPr>
          <p:cNvPr id="18" name="Text 16"/>
          <p:cNvSpPr/>
          <p:nvPr/>
        </p:nvSpPr>
        <p:spPr>
          <a:xfrm>
            <a:off x="6217920" y="4754880"/>
            <a:ext cx="4434840" cy="868680"/>
          </a:xfrm>
          <a:prstGeom prst="rect">
            <a:avLst/>
          </a:prstGeom>
          <a:noFill/>
          <a:ln/>
        </p:spPr>
        <p:txBody>
          <a:bodyPr wrap="square" lIns="0" tIns="0" rIns="0" bIns="0" rtlCol="0" anchor="ctr"/>
          <a:lstStyle/>
          <a:p>
            <a:pPr indent="0" marL="0">
              <a:buNone/>
            </a:pPr>
            <a:r>
              <a:rPr lang="en-US" sz="1350" dirty="0">
                <a:solidFill>
                  <a:srgbClr val="5A6B75"/>
                </a:solidFill>
                <a:latin typeface="Calibri" pitchFamily="34" charset="0"/>
                <a:ea typeface="Calibri" pitchFamily="34" charset="-122"/>
                <a:cs typeface="Calibri" pitchFamily="34" charset="-120"/>
              </a:rPr>
              <a:t>Una lectura del trimestre en curso apenas cierra, con dos meses y medio de anticipación.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Qué construimos, en una línea</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Un modelo que lee 25 indicadores mensuales y los traduce a una estimación del PBI</a:t>
            </a:r>
            <a:endParaRPr lang="en-US" sz="1500" dirty="0"/>
          </a:p>
        </p:txBody>
      </p:sp>
      <p:sp>
        <p:nvSpPr>
          <p:cNvPr id="4" name="Shape 2"/>
          <p:cNvSpPr/>
          <p:nvPr/>
        </p:nvSpPr>
        <p:spPr>
          <a:xfrm>
            <a:off x="640080" y="1965960"/>
            <a:ext cx="3291840" cy="3108960"/>
          </a:xfrm>
          <a:prstGeom prst="roundRect">
            <a:avLst>
              <a:gd name="adj" fmla="val 2647"/>
            </a:avLst>
          </a:prstGeom>
          <a:solidFill>
            <a:srgbClr val="F4F7F8"/>
          </a:solidFill>
          <a:ln w="12700">
            <a:solidFill>
              <a:srgbClr val="F4F7F8"/>
            </a:solidFill>
            <a:prstDash val="solid"/>
          </a:ln>
        </p:spPr>
      </p:sp>
      <p:sp>
        <p:nvSpPr>
          <p:cNvPr id="5" name="Shape 3"/>
          <p:cNvSpPr/>
          <p:nvPr/>
        </p:nvSpPr>
        <p:spPr>
          <a:xfrm>
            <a:off x="932688" y="2286000"/>
            <a:ext cx="566928" cy="566928"/>
          </a:xfrm>
          <a:prstGeom prst="ellipse">
            <a:avLst/>
          </a:prstGeom>
          <a:solidFill>
            <a:srgbClr val="2E8AA8"/>
          </a:solidFill>
          <a:ln w="12700">
            <a:solidFill>
              <a:srgbClr val="2E8AA8"/>
            </a:solidFill>
            <a:prstDash val="solid"/>
          </a:ln>
        </p:spPr>
      </p:sp>
      <p:sp>
        <p:nvSpPr>
          <p:cNvPr id="6" name="Text 4"/>
          <p:cNvSpPr/>
          <p:nvPr/>
        </p:nvSpPr>
        <p:spPr>
          <a:xfrm>
            <a:off x="932688" y="22860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932688" y="3063240"/>
            <a:ext cx="2743200" cy="365760"/>
          </a:xfrm>
          <a:prstGeom prst="rect">
            <a:avLst/>
          </a:prstGeom>
          <a:noFill/>
          <a:ln/>
        </p:spPr>
        <p:txBody>
          <a:bodyPr wrap="square" lIns="0" tIns="0" rIns="0" bIns="0" rtlCol="0" anchor="ctr"/>
          <a:lstStyle/>
          <a:p>
            <a:pPr indent="0" marL="0">
              <a:buNone/>
            </a:pPr>
            <a:r>
              <a:rPr lang="en-US" sz="1700" b="1" dirty="0">
                <a:solidFill>
                  <a:srgbClr val="1A2A33"/>
                </a:solidFill>
                <a:latin typeface="Calibri" pitchFamily="34" charset="0"/>
                <a:ea typeface="Calibri" pitchFamily="34" charset="-122"/>
                <a:cs typeface="Calibri" pitchFamily="34" charset="-120"/>
              </a:rPr>
              <a:t>Escucha 25 señales</a:t>
            </a:r>
            <a:endParaRPr lang="en-US" sz="1700" dirty="0"/>
          </a:p>
        </p:txBody>
      </p:sp>
      <p:sp>
        <p:nvSpPr>
          <p:cNvPr id="8" name="Text 6"/>
          <p:cNvSpPr/>
          <p:nvPr/>
        </p:nvSpPr>
        <p:spPr>
          <a:xfrm>
            <a:off x="932688" y="3520440"/>
            <a:ext cx="2743200" cy="1371600"/>
          </a:xfrm>
          <a:prstGeom prst="rect">
            <a:avLst/>
          </a:prstGeom>
          <a:noFill/>
          <a:ln/>
        </p:spPr>
        <p:txBody>
          <a:bodyPr wrap="square" lIns="0" tIns="0" rIns="0" bIns="0" rtlCol="0" anchor="ctr"/>
          <a:lstStyle/>
          <a:p>
            <a:pPr indent="0" marL="0">
              <a:buNone/>
            </a:pPr>
            <a:r>
              <a:rPr lang="en-US" sz="1300" dirty="0">
                <a:solidFill>
                  <a:srgbClr val="5A6B75"/>
                </a:solidFill>
                <a:latin typeface="Calibri" pitchFamily="34" charset="0"/>
                <a:ea typeface="Calibri" pitchFamily="34" charset="-122"/>
                <a:cs typeface="Calibri" pitchFamily="34" charset="-120"/>
              </a:rPr>
              <a:t>Producción industrial, construcción, automotriz, siderurgia, recaudación, crédito, salarios, expectativas.</a:t>
            </a:r>
            <a:endParaRPr lang="en-US" sz="1300" dirty="0"/>
          </a:p>
        </p:txBody>
      </p:sp>
      <p:sp>
        <p:nvSpPr>
          <p:cNvPr id="9" name="Shape 7"/>
          <p:cNvSpPr/>
          <p:nvPr/>
        </p:nvSpPr>
        <p:spPr>
          <a:xfrm>
            <a:off x="4251960" y="1965960"/>
            <a:ext cx="3291840" cy="3108960"/>
          </a:xfrm>
          <a:prstGeom prst="roundRect">
            <a:avLst>
              <a:gd name="adj" fmla="val 2647"/>
            </a:avLst>
          </a:prstGeom>
          <a:solidFill>
            <a:srgbClr val="F4F7F8"/>
          </a:solidFill>
          <a:ln w="12700">
            <a:solidFill>
              <a:srgbClr val="F4F7F8"/>
            </a:solidFill>
            <a:prstDash val="solid"/>
          </a:ln>
        </p:spPr>
      </p:sp>
      <p:sp>
        <p:nvSpPr>
          <p:cNvPr id="10" name="Shape 8"/>
          <p:cNvSpPr/>
          <p:nvPr/>
        </p:nvSpPr>
        <p:spPr>
          <a:xfrm>
            <a:off x="4544568" y="2286000"/>
            <a:ext cx="566928" cy="566928"/>
          </a:xfrm>
          <a:prstGeom prst="ellipse">
            <a:avLst/>
          </a:prstGeom>
          <a:solidFill>
            <a:srgbClr val="2E8AA8"/>
          </a:solidFill>
          <a:ln w="12700">
            <a:solidFill>
              <a:srgbClr val="2E8AA8"/>
            </a:solidFill>
            <a:prstDash val="solid"/>
          </a:ln>
        </p:spPr>
      </p:sp>
      <p:sp>
        <p:nvSpPr>
          <p:cNvPr id="11" name="Text 9"/>
          <p:cNvSpPr/>
          <p:nvPr/>
        </p:nvSpPr>
        <p:spPr>
          <a:xfrm>
            <a:off x="4544568" y="22860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544568" y="3063240"/>
            <a:ext cx="2743200" cy="365760"/>
          </a:xfrm>
          <a:prstGeom prst="rect">
            <a:avLst/>
          </a:prstGeom>
          <a:noFill/>
          <a:ln/>
        </p:spPr>
        <p:txBody>
          <a:bodyPr wrap="square" lIns="0" tIns="0" rIns="0" bIns="0" rtlCol="0" anchor="ctr"/>
          <a:lstStyle/>
          <a:p>
            <a:pPr indent="0" marL="0">
              <a:buNone/>
            </a:pPr>
            <a:r>
              <a:rPr lang="en-US" sz="1700" b="1" dirty="0">
                <a:solidFill>
                  <a:srgbClr val="1A2A33"/>
                </a:solidFill>
                <a:latin typeface="Calibri" pitchFamily="34" charset="0"/>
                <a:ea typeface="Calibri" pitchFamily="34" charset="-122"/>
                <a:cs typeface="Calibri" pitchFamily="34" charset="-120"/>
              </a:rPr>
              <a:t>Extrae el pulso común</a:t>
            </a:r>
            <a:endParaRPr lang="en-US" sz="1700" dirty="0"/>
          </a:p>
        </p:txBody>
      </p:sp>
      <p:sp>
        <p:nvSpPr>
          <p:cNvPr id="13" name="Text 11"/>
          <p:cNvSpPr/>
          <p:nvPr/>
        </p:nvSpPr>
        <p:spPr>
          <a:xfrm>
            <a:off x="4544568" y="3520440"/>
            <a:ext cx="2743200" cy="1371600"/>
          </a:xfrm>
          <a:prstGeom prst="rect">
            <a:avLst/>
          </a:prstGeom>
          <a:noFill/>
          <a:ln/>
        </p:spPr>
        <p:txBody>
          <a:bodyPr wrap="square" lIns="0" tIns="0" rIns="0" bIns="0" rtlCol="0" anchor="ctr"/>
          <a:lstStyle/>
          <a:p>
            <a:pPr indent="0" marL="0">
              <a:buNone/>
            </a:pPr>
            <a:r>
              <a:rPr lang="en-US" sz="1300" dirty="0">
                <a:solidFill>
                  <a:srgbClr val="5A6B75"/>
                </a:solidFill>
                <a:latin typeface="Calibri" pitchFamily="34" charset="0"/>
                <a:ea typeface="Calibri" pitchFamily="34" charset="-122"/>
                <a:cs typeface="Calibri" pitchFamily="34" charset="-120"/>
              </a:rPr>
              <a:t>Separa el movimiento que comparten todas las series —el ciclo económico— del ruido propio de cada una.</a:t>
            </a:r>
            <a:endParaRPr lang="en-US" sz="1300" dirty="0"/>
          </a:p>
        </p:txBody>
      </p:sp>
      <p:sp>
        <p:nvSpPr>
          <p:cNvPr id="14" name="Shape 12"/>
          <p:cNvSpPr/>
          <p:nvPr/>
        </p:nvSpPr>
        <p:spPr>
          <a:xfrm>
            <a:off x="7863840" y="1965960"/>
            <a:ext cx="3291840" cy="3108960"/>
          </a:xfrm>
          <a:prstGeom prst="roundRect">
            <a:avLst>
              <a:gd name="adj" fmla="val 2647"/>
            </a:avLst>
          </a:prstGeom>
          <a:solidFill>
            <a:srgbClr val="F4F7F8"/>
          </a:solidFill>
          <a:ln w="12700">
            <a:solidFill>
              <a:srgbClr val="F4F7F8"/>
            </a:solidFill>
            <a:prstDash val="solid"/>
          </a:ln>
        </p:spPr>
      </p:sp>
      <p:sp>
        <p:nvSpPr>
          <p:cNvPr id="15" name="Shape 13"/>
          <p:cNvSpPr/>
          <p:nvPr/>
        </p:nvSpPr>
        <p:spPr>
          <a:xfrm>
            <a:off x="8156448" y="2286000"/>
            <a:ext cx="566928" cy="566928"/>
          </a:xfrm>
          <a:prstGeom prst="ellipse">
            <a:avLst/>
          </a:prstGeom>
          <a:solidFill>
            <a:srgbClr val="2E8AA8"/>
          </a:solidFill>
          <a:ln w="12700">
            <a:solidFill>
              <a:srgbClr val="2E8AA8"/>
            </a:solidFill>
            <a:prstDash val="solid"/>
          </a:ln>
        </p:spPr>
      </p:sp>
      <p:sp>
        <p:nvSpPr>
          <p:cNvPr id="16" name="Text 14"/>
          <p:cNvSpPr/>
          <p:nvPr/>
        </p:nvSpPr>
        <p:spPr>
          <a:xfrm>
            <a:off x="8156448" y="22860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156448" y="3063240"/>
            <a:ext cx="2743200" cy="365760"/>
          </a:xfrm>
          <a:prstGeom prst="rect">
            <a:avLst/>
          </a:prstGeom>
          <a:noFill/>
          <a:ln/>
        </p:spPr>
        <p:txBody>
          <a:bodyPr wrap="square" lIns="0" tIns="0" rIns="0" bIns="0" rtlCol="0" anchor="ctr"/>
          <a:lstStyle/>
          <a:p>
            <a:pPr indent="0" marL="0">
              <a:buNone/>
            </a:pPr>
            <a:r>
              <a:rPr lang="en-US" sz="1700" b="1" dirty="0">
                <a:solidFill>
                  <a:srgbClr val="1A2A33"/>
                </a:solidFill>
                <a:latin typeface="Calibri" pitchFamily="34" charset="0"/>
                <a:ea typeface="Calibri" pitchFamily="34" charset="-122"/>
                <a:cs typeface="Calibri" pitchFamily="34" charset="-120"/>
              </a:rPr>
              <a:t>Lo traduce a PBI</a:t>
            </a:r>
            <a:endParaRPr lang="en-US" sz="1700" dirty="0"/>
          </a:p>
        </p:txBody>
      </p:sp>
      <p:sp>
        <p:nvSpPr>
          <p:cNvPr id="18" name="Text 16"/>
          <p:cNvSpPr/>
          <p:nvPr/>
        </p:nvSpPr>
        <p:spPr>
          <a:xfrm>
            <a:off x="8156448" y="3520440"/>
            <a:ext cx="2743200" cy="1371600"/>
          </a:xfrm>
          <a:prstGeom prst="rect">
            <a:avLst/>
          </a:prstGeom>
          <a:noFill/>
          <a:ln/>
        </p:spPr>
        <p:txBody>
          <a:bodyPr wrap="square" lIns="0" tIns="0" rIns="0" bIns="0" rtlCol="0" anchor="ctr"/>
          <a:lstStyle/>
          <a:p>
            <a:pPr indent="0" marL="0">
              <a:buNone/>
            </a:pPr>
            <a:r>
              <a:rPr lang="en-US" sz="1300" dirty="0">
                <a:solidFill>
                  <a:srgbClr val="5A6B75"/>
                </a:solidFill>
                <a:latin typeface="Calibri" pitchFamily="34" charset="0"/>
                <a:ea typeface="Calibri" pitchFamily="34" charset="-122"/>
                <a:cs typeface="Calibri" pitchFamily="34" charset="-120"/>
              </a:rPr>
              <a:t>Convierte ese pulso en una estimación del crecimiento del trimestre, con su margen de error.</a:t>
            </a:r>
            <a:endParaRPr lang="en-US" sz="1300" dirty="0"/>
          </a:p>
        </p:txBody>
      </p:sp>
      <p:sp>
        <p:nvSpPr>
          <p:cNvPr id="19" name="Shape 17"/>
          <p:cNvSpPr/>
          <p:nvPr/>
        </p:nvSpPr>
        <p:spPr>
          <a:xfrm>
            <a:off x="640080" y="5349240"/>
            <a:ext cx="10881360" cy="777240"/>
          </a:xfrm>
          <a:prstGeom prst="roundRect">
            <a:avLst>
              <a:gd name="adj" fmla="val 10588"/>
            </a:avLst>
          </a:prstGeom>
          <a:solidFill>
            <a:srgbClr val="0D3B4F"/>
          </a:solidFill>
          <a:ln w="12700">
            <a:solidFill>
              <a:srgbClr val="0D3B4F"/>
            </a:solidFill>
            <a:prstDash val="solid"/>
          </a:ln>
        </p:spPr>
      </p:sp>
      <p:sp>
        <p:nvSpPr>
          <p:cNvPr id="20" name="Text 18"/>
          <p:cNvSpPr/>
          <p:nvPr/>
        </p:nvSpPr>
        <p:spPr>
          <a:xfrm>
            <a:off x="960120" y="5486400"/>
            <a:ext cx="10241280" cy="54864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La idea de fondo: la economía se mueve en bloque. Si la industria, el crédito y la construcción se mueven juntos, ese movimiento común anticipa el PBI.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La mejora respecto de nuestra primera versión</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Pasamos de esperar el trimestre completo a leer los datos a medida que llegan</a:t>
            </a:r>
            <a:endParaRPr lang="en-US" sz="1500" dirty="0"/>
          </a:p>
        </p:txBody>
      </p:sp>
      <p:sp>
        <p:nvSpPr>
          <p:cNvPr id="4" name="Shape 2"/>
          <p:cNvSpPr/>
          <p:nvPr/>
        </p:nvSpPr>
        <p:spPr>
          <a:xfrm>
            <a:off x="640080" y="1920240"/>
            <a:ext cx="5029200" cy="3246120"/>
          </a:xfrm>
          <a:prstGeom prst="roundRect">
            <a:avLst>
              <a:gd name="adj" fmla="val 2535"/>
            </a:avLst>
          </a:prstGeom>
          <a:solidFill>
            <a:srgbClr val="F4F7F8"/>
          </a:solidFill>
          <a:ln w="12700">
            <a:solidFill>
              <a:srgbClr val="F4F7F8"/>
            </a:solidFill>
            <a:prstDash val="solid"/>
          </a:ln>
        </p:spPr>
      </p:sp>
      <p:sp>
        <p:nvSpPr>
          <p:cNvPr id="5" name="Text 3"/>
          <p:cNvSpPr/>
          <p:nvPr/>
        </p:nvSpPr>
        <p:spPr>
          <a:xfrm>
            <a:off x="960120" y="2148840"/>
            <a:ext cx="4389120" cy="292608"/>
          </a:xfrm>
          <a:prstGeom prst="rect">
            <a:avLst/>
          </a:prstGeom>
          <a:noFill/>
          <a:ln/>
        </p:spPr>
        <p:txBody>
          <a:bodyPr wrap="square" lIns="0" tIns="0" rIns="0" bIns="0" rtlCol="0" anchor="ctr"/>
          <a:lstStyle/>
          <a:p>
            <a:pPr indent="0" marL="0">
              <a:buNone/>
            </a:pPr>
            <a:r>
              <a:rPr lang="en-US" sz="1200" b="1" spc="120" kern="0" dirty="0">
                <a:solidFill>
                  <a:srgbClr val="5A6B75"/>
                </a:solidFill>
                <a:latin typeface="Calibri" pitchFamily="34" charset="0"/>
                <a:ea typeface="Calibri" pitchFamily="34" charset="-122"/>
                <a:cs typeface="Calibri" pitchFamily="34" charset="-120"/>
              </a:rPr>
              <a:t>VERSIÓN ANTERIOR</a:t>
            </a:r>
            <a:endParaRPr lang="en-US" sz="1200" dirty="0"/>
          </a:p>
        </p:txBody>
      </p:sp>
      <p:sp>
        <p:nvSpPr>
          <p:cNvPr id="6" name="Text 4"/>
          <p:cNvSpPr/>
          <p:nvPr/>
        </p:nvSpPr>
        <p:spPr>
          <a:xfrm>
            <a:off x="960120" y="2560320"/>
            <a:ext cx="4434840" cy="292608"/>
          </a:xfrm>
          <a:prstGeom prst="rect">
            <a:avLst/>
          </a:prstGeom>
          <a:noFill/>
          <a:ln/>
        </p:spPr>
        <p:txBody>
          <a:bodyPr wrap="square" lIns="0" tIns="0" rIns="0" bIns="0" rtlCol="0" anchor="ctr"/>
          <a:lstStyle/>
          <a:p>
            <a:pPr indent="0" marL="0">
              <a:buNone/>
            </a:pPr>
            <a:r>
              <a:rPr lang="en-US" sz="1350" b="1" dirty="0">
                <a:solidFill>
                  <a:srgbClr val="1A2A33"/>
                </a:solidFill>
                <a:latin typeface="Calibri" pitchFamily="34" charset="0"/>
                <a:ea typeface="Calibri" pitchFamily="34" charset="-122"/>
                <a:cs typeface="Calibri" pitchFamily="34" charset="-120"/>
              </a:rPr>
              <a:t>Promediaba los tres meses del trimestre</a:t>
            </a:r>
            <a:endParaRPr lang="en-US" sz="1350" dirty="0"/>
          </a:p>
        </p:txBody>
      </p:sp>
      <p:sp>
        <p:nvSpPr>
          <p:cNvPr id="7" name="Text 5"/>
          <p:cNvSpPr/>
          <p:nvPr/>
        </p:nvSpPr>
        <p:spPr>
          <a:xfrm>
            <a:off x="960120" y="2852928"/>
            <a:ext cx="4434840" cy="50292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Perdía el detalle de cómo evolucionó dentro del trimestre</a:t>
            </a:r>
            <a:endParaRPr lang="en-US" sz="1200" dirty="0"/>
          </a:p>
        </p:txBody>
      </p:sp>
      <p:sp>
        <p:nvSpPr>
          <p:cNvPr id="8" name="Text 6"/>
          <p:cNvSpPr/>
          <p:nvPr/>
        </p:nvSpPr>
        <p:spPr>
          <a:xfrm>
            <a:off x="960120" y="3401568"/>
            <a:ext cx="4434840" cy="292608"/>
          </a:xfrm>
          <a:prstGeom prst="rect">
            <a:avLst/>
          </a:prstGeom>
          <a:noFill/>
          <a:ln/>
        </p:spPr>
        <p:txBody>
          <a:bodyPr wrap="square" lIns="0" tIns="0" rIns="0" bIns="0" rtlCol="0" anchor="ctr"/>
          <a:lstStyle/>
          <a:p>
            <a:pPr indent="0" marL="0">
              <a:buNone/>
            </a:pPr>
            <a:r>
              <a:rPr lang="en-US" sz="1350" b="1" dirty="0">
                <a:solidFill>
                  <a:srgbClr val="1A2A33"/>
                </a:solidFill>
                <a:latin typeface="Calibri" pitchFamily="34" charset="0"/>
                <a:ea typeface="Calibri" pitchFamily="34" charset="-122"/>
                <a:cs typeface="Calibri" pitchFamily="34" charset="-120"/>
              </a:rPr>
              <a:t>Necesitaba el trimestre completo</a:t>
            </a:r>
            <a:endParaRPr lang="en-US" sz="1350" dirty="0"/>
          </a:p>
        </p:txBody>
      </p:sp>
      <p:sp>
        <p:nvSpPr>
          <p:cNvPr id="9" name="Text 7"/>
          <p:cNvSpPr/>
          <p:nvPr/>
        </p:nvSpPr>
        <p:spPr>
          <a:xfrm>
            <a:off x="960120" y="3694176"/>
            <a:ext cx="4434840" cy="50292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Sin los tres meses, no producía lectura</a:t>
            </a:r>
            <a:endParaRPr lang="en-US" sz="1200" dirty="0"/>
          </a:p>
        </p:txBody>
      </p:sp>
      <p:sp>
        <p:nvSpPr>
          <p:cNvPr id="10" name="Text 8"/>
          <p:cNvSpPr/>
          <p:nvPr/>
        </p:nvSpPr>
        <p:spPr>
          <a:xfrm>
            <a:off x="960120" y="4242816"/>
            <a:ext cx="4434840" cy="292608"/>
          </a:xfrm>
          <a:prstGeom prst="rect">
            <a:avLst/>
          </a:prstGeom>
          <a:noFill/>
          <a:ln/>
        </p:spPr>
        <p:txBody>
          <a:bodyPr wrap="square" lIns="0" tIns="0" rIns="0" bIns="0" rtlCol="0" anchor="ctr"/>
          <a:lstStyle/>
          <a:p>
            <a:pPr indent="0" marL="0">
              <a:buNone/>
            </a:pPr>
            <a:r>
              <a:rPr lang="en-US" sz="1350" b="1" dirty="0">
                <a:solidFill>
                  <a:srgbClr val="1A2A33"/>
                </a:solidFill>
                <a:latin typeface="Calibri" pitchFamily="34" charset="0"/>
                <a:ea typeface="Calibri" pitchFamily="34" charset="-122"/>
                <a:cs typeface="Calibri" pitchFamily="34" charset="-120"/>
              </a:rPr>
              <a:t>Excluía los mejores indicadores</a:t>
            </a:r>
            <a:endParaRPr lang="en-US" sz="1350" dirty="0"/>
          </a:p>
        </p:txBody>
      </p:sp>
      <p:sp>
        <p:nvSpPr>
          <p:cNvPr id="11" name="Text 9"/>
          <p:cNvSpPr/>
          <p:nvPr/>
        </p:nvSpPr>
        <p:spPr>
          <a:xfrm>
            <a:off x="960120" y="4535424"/>
            <a:ext cx="4434840" cy="50292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Los de publicación lenta distorsionaban el resultado</a:t>
            </a:r>
            <a:endParaRPr lang="en-US" sz="1200" dirty="0"/>
          </a:p>
        </p:txBody>
      </p:sp>
      <p:sp>
        <p:nvSpPr>
          <p:cNvPr id="12" name="Shape 10"/>
          <p:cNvSpPr/>
          <p:nvPr/>
        </p:nvSpPr>
        <p:spPr>
          <a:xfrm>
            <a:off x="6035040" y="1920240"/>
            <a:ext cx="5029200" cy="3246120"/>
          </a:xfrm>
          <a:prstGeom prst="roundRect">
            <a:avLst>
              <a:gd name="adj" fmla="val 2535"/>
            </a:avLst>
          </a:prstGeom>
          <a:solidFill>
            <a:srgbClr val="E8F2F5"/>
          </a:solidFill>
          <a:ln w="12700">
            <a:solidFill>
              <a:srgbClr val="E8F2F5"/>
            </a:solidFill>
            <a:prstDash val="solid"/>
          </a:ln>
        </p:spPr>
      </p:sp>
      <p:sp>
        <p:nvSpPr>
          <p:cNvPr id="13" name="Text 11"/>
          <p:cNvSpPr/>
          <p:nvPr/>
        </p:nvSpPr>
        <p:spPr>
          <a:xfrm>
            <a:off x="6355080" y="2148840"/>
            <a:ext cx="4389120" cy="292608"/>
          </a:xfrm>
          <a:prstGeom prst="rect">
            <a:avLst/>
          </a:prstGeom>
          <a:noFill/>
          <a:ln/>
        </p:spPr>
        <p:txBody>
          <a:bodyPr wrap="square" lIns="0" tIns="0" rIns="0" bIns="0" rtlCol="0" anchor="ctr"/>
          <a:lstStyle/>
          <a:p>
            <a:pPr indent="0" marL="0">
              <a:buNone/>
            </a:pPr>
            <a:r>
              <a:rPr lang="en-US" sz="1200" b="1" spc="120" kern="0" dirty="0">
                <a:solidFill>
                  <a:srgbClr val="2E8AA8"/>
                </a:solidFill>
                <a:latin typeface="Calibri" pitchFamily="34" charset="0"/>
                <a:ea typeface="Calibri" pitchFamily="34" charset="-122"/>
                <a:cs typeface="Calibri" pitchFamily="34" charset="-120"/>
              </a:rPr>
              <a:t>VERSIÓN ACTUAL</a:t>
            </a:r>
            <a:endParaRPr lang="en-US" sz="1200" dirty="0"/>
          </a:p>
        </p:txBody>
      </p:sp>
      <p:sp>
        <p:nvSpPr>
          <p:cNvPr id="14" name="Text 12"/>
          <p:cNvSpPr/>
          <p:nvPr/>
        </p:nvSpPr>
        <p:spPr>
          <a:xfrm>
            <a:off x="6355080" y="2560320"/>
            <a:ext cx="4434840" cy="292608"/>
          </a:xfrm>
          <a:prstGeom prst="rect">
            <a:avLst/>
          </a:prstGeom>
          <a:noFill/>
          <a:ln/>
        </p:spPr>
        <p:txBody>
          <a:bodyPr wrap="square" lIns="0" tIns="0" rIns="0" bIns="0" rtlCol="0" anchor="ctr"/>
          <a:lstStyle/>
          <a:p>
            <a:pPr indent="0" marL="0">
              <a:buNone/>
            </a:pPr>
            <a:r>
              <a:rPr lang="en-US" sz="1350" b="1" dirty="0">
                <a:solidFill>
                  <a:srgbClr val="1A2A33"/>
                </a:solidFill>
                <a:latin typeface="Calibri" pitchFamily="34" charset="0"/>
                <a:ea typeface="Calibri" pitchFamily="34" charset="-122"/>
                <a:cs typeface="Calibri" pitchFamily="34" charset="-120"/>
              </a:rPr>
              <a:t>Usa cada mes por separado</a:t>
            </a:r>
            <a:endParaRPr lang="en-US" sz="1350" dirty="0"/>
          </a:p>
        </p:txBody>
      </p:sp>
      <p:sp>
        <p:nvSpPr>
          <p:cNvPr id="15" name="Text 13"/>
          <p:cNvSpPr/>
          <p:nvPr/>
        </p:nvSpPr>
        <p:spPr>
          <a:xfrm>
            <a:off x="6355080" y="2852928"/>
            <a:ext cx="4434840" cy="50292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Aprovecha información que antes se descartaba</a:t>
            </a:r>
            <a:endParaRPr lang="en-US" sz="1200" dirty="0"/>
          </a:p>
        </p:txBody>
      </p:sp>
      <p:sp>
        <p:nvSpPr>
          <p:cNvPr id="16" name="Text 14"/>
          <p:cNvSpPr/>
          <p:nvPr/>
        </p:nvSpPr>
        <p:spPr>
          <a:xfrm>
            <a:off x="6355080" y="3401568"/>
            <a:ext cx="4434840" cy="292608"/>
          </a:xfrm>
          <a:prstGeom prst="rect">
            <a:avLst/>
          </a:prstGeom>
          <a:noFill/>
          <a:ln/>
        </p:spPr>
        <p:txBody>
          <a:bodyPr wrap="square" lIns="0" tIns="0" rIns="0" bIns="0" rtlCol="0" anchor="ctr"/>
          <a:lstStyle/>
          <a:p>
            <a:pPr indent="0" marL="0">
              <a:buNone/>
            </a:pPr>
            <a:r>
              <a:rPr lang="en-US" sz="1350" b="1" dirty="0">
                <a:solidFill>
                  <a:srgbClr val="1A2A33"/>
                </a:solidFill>
                <a:latin typeface="Calibri" pitchFamily="34" charset="0"/>
                <a:ea typeface="Calibri" pitchFamily="34" charset="-122"/>
                <a:cs typeface="Calibri" pitchFamily="34" charset="-120"/>
              </a:rPr>
              <a:t>Estima con datos parciales</a:t>
            </a:r>
            <a:endParaRPr lang="en-US" sz="1350" dirty="0"/>
          </a:p>
        </p:txBody>
      </p:sp>
      <p:sp>
        <p:nvSpPr>
          <p:cNvPr id="17" name="Text 15"/>
          <p:cNvSpPr/>
          <p:nvPr/>
        </p:nvSpPr>
        <p:spPr>
          <a:xfrm>
            <a:off x="6355080" y="3694176"/>
            <a:ext cx="4434840" cy="50292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Da lectura con uno o dos meses del trimestre</a:t>
            </a:r>
            <a:endParaRPr lang="en-US" sz="1200" dirty="0"/>
          </a:p>
        </p:txBody>
      </p:sp>
      <p:sp>
        <p:nvSpPr>
          <p:cNvPr id="18" name="Text 16"/>
          <p:cNvSpPr/>
          <p:nvPr/>
        </p:nvSpPr>
        <p:spPr>
          <a:xfrm>
            <a:off x="6355080" y="4242816"/>
            <a:ext cx="4434840" cy="292608"/>
          </a:xfrm>
          <a:prstGeom prst="rect">
            <a:avLst/>
          </a:prstGeom>
          <a:noFill/>
          <a:ln/>
        </p:spPr>
        <p:txBody>
          <a:bodyPr wrap="square" lIns="0" tIns="0" rIns="0" bIns="0" rtlCol="0" anchor="ctr"/>
          <a:lstStyle/>
          <a:p>
            <a:pPr indent="0" marL="0">
              <a:buNone/>
            </a:pPr>
            <a:r>
              <a:rPr lang="en-US" sz="1350" b="1" dirty="0">
                <a:solidFill>
                  <a:srgbClr val="1A2A33"/>
                </a:solidFill>
                <a:latin typeface="Calibri" pitchFamily="34" charset="0"/>
                <a:ea typeface="Calibri" pitchFamily="34" charset="-122"/>
                <a:cs typeface="Calibri" pitchFamily="34" charset="-120"/>
              </a:rPr>
              <a:t>Incorpora todos los indicadores</a:t>
            </a:r>
            <a:endParaRPr lang="en-US" sz="1350" dirty="0"/>
          </a:p>
        </p:txBody>
      </p:sp>
      <p:sp>
        <p:nvSpPr>
          <p:cNvPr id="19" name="Text 17"/>
          <p:cNvSpPr/>
          <p:nvPr/>
        </p:nvSpPr>
        <p:spPr>
          <a:xfrm>
            <a:off x="6355080" y="4535424"/>
            <a:ext cx="4434840" cy="50292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Cada serie entra cuando realmente se publica, sin distorsión</a:t>
            </a:r>
            <a:endParaRPr lang="en-US" sz="1200" dirty="0"/>
          </a:p>
        </p:txBody>
      </p:sp>
      <p:sp>
        <p:nvSpPr>
          <p:cNvPr id="20" name="Text 18"/>
          <p:cNvSpPr/>
          <p:nvPr/>
        </p:nvSpPr>
        <p:spPr>
          <a:xfrm>
            <a:off x="640080" y="5486400"/>
            <a:ext cx="10881360" cy="457200"/>
          </a:xfrm>
          <a:prstGeom prst="rect">
            <a:avLst/>
          </a:prstGeom>
          <a:noFill/>
          <a:ln/>
        </p:spPr>
        <p:txBody>
          <a:bodyPr wrap="square" lIns="0" tIns="0" rIns="0" bIns="0" rtlCol="0" anchor="ctr"/>
          <a:lstStyle/>
          <a:p>
            <a:pPr indent="0" marL="0">
              <a:buNone/>
            </a:pPr>
            <a:r>
              <a:rPr lang="en-US" sz="1500" b="1" dirty="0">
                <a:solidFill>
                  <a:srgbClr val="0D3B4F"/>
                </a:solidFill>
                <a:latin typeface="Calibri" pitchFamily="34" charset="0"/>
                <a:ea typeface="Calibri" pitchFamily="34" charset="-122"/>
                <a:cs typeface="Calibri" pitchFamily="34" charset="-120"/>
              </a:rPr>
              <a:t>Resultado: 23% menos error que la versión anterior, con mejora estadísticamente comprobada.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Cómo lo pusimos a prueba</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La prueba clave: simular que estamos en el pasado y no dejar que el modelo vea el futuro</a:t>
            </a:r>
            <a:endParaRPr lang="en-US" sz="1500" dirty="0"/>
          </a:p>
        </p:txBody>
      </p:sp>
      <p:sp>
        <p:nvSpPr>
          <p:cNvPr id="4" name="Shape 2"/>
          <p:cNvSpPr/>
          <p:nvPr/>
        </p:nvSpPr>
        <p:spPr>
          <a:xfrm>
            <a:off x="640080" y="2011680"/>
            <a:ext cx="457200" cy="457200"/>
          </a:xfrm>
          <a:prstGeom prst="ellipse">
            <a:avLst/>
          </a:prstGeom>
          <a:solidFill>
            <a:srgbClr val="E8A33D"/>
          </a:solidFill>
          <a:ln w="12700">
            <a:solidFill>
              <a:srgbClr val="E8A33D"/>
            </a:solidFill>
            <a:prstDash val="solid"/>
          </a:ln>
        </p:spPr>
      </p:sp>
      <p:sp>
        <p:nvSpPr>
          <p:cNvPr id="5" name="Text 3"/>
          <p:cNvSpPr/>
          <p:nvPr/>
        </p:nvSpPr>
        <p:spPr>
          <a:xfrm>
            <a:off x="640080" y="2011680"/>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98448" y="1993392"/>
            <a:ext cx="4480560" cy="32004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Simulación histórica</a:t>
            </a:r>
            <a:endParaRPr lang="en-US" sz="1600" dirty="0"/>
          </a:p>
        </p:txBody>
      </p:sp>
      <p:sp>
        <p:nvSpPr>
          <p:cNvPr id="7" name="Text 5"/>
          <p:cNvSpPr/>
          <p:nvPr/>
        </p:nvSpPr>
        <p:spPr>
          <a:xfrm>
            <a:off x="1298448" y="2359152"/>
            <a:ext cx="4572000" cy="1005840"/>
          </a:xfrm>
          <a:prstGeom prst="rect">
            <a:avLst/>
          </a:prstGeom>
          <a:noFill/>
          <a:ln/>
        </p:spPr>
        <p:txBody>
          <a:bodyPr wrap="square" lIns="0" tIns="0" rIns="0" bIns="0" rtlCol="0" anchor="ctr"/>
          <a:lstStyle/>
          <a:p>
            <a:pPr indent="0" marL="0">
              <a:buNone/>
            </a:pPr>
            <a:r>
              <a:rPr lang="en-US" sz="1300" dirty="0">
                <a:solidFill>
                  <a:srgbClr val="5A6B75"/>
                </a:solidFill>
                <a:latin typeface="Calibri" pitchFamily="34" charset="0"/>
                <a:ea typeface="Calibri" pitchFamily="34" charset="-122"/>
                <a:cs typeface="Calibri" pitchFamily="34" charset="-120"/>
              </a:rPr>
              <a:t>Se recorrieron 45 trimestres, de 2014 a 2025, estimando cada uno como si fuera el presente.</a:t>
            </a:r>
            <a:endParaRPr lang="en-US" sz="1300" dirty="0"/>
          </a:p>
        </p:txBody>
      </p:sp>
      <p:sp>
        <p:nvSpPr>
          <p:cNvPr id="8" name="Shape 6"/>
          <p:cNvSpPr/>
          <p:nvPr/>
        </p:nvSpPr>
        <p:spPr>
          <a:xfrm>
            <a:off x="6126480" y="2011680"/>
            <a:ext cx="457200" cy="457200"/>
          </a:xfrm>
          <a:prstGeom prst="ellipse">
            <a:avLst/>
          </a:prstGeom>
          <a:solidFill>
            <a:srgbClr val="E8A33D"/>
          </a:solidFill>
          <a:ln w="12700">
            <a:solidFill>
              <a:srgbClr val="E8A33D"/>
            </a:solidFill>
            <a:prstDash val="solid"/>
          </a:ln>
        </p:spPr>
      </p:sp>
      <p:sp>
        <p:nvSpPr>
          <p:cNvPr id="9" name="Text 7"/>
          <p:cNvSpPr/>
          <p:nvPr/>
        </p:nvSpPr>
        <p:spPr>
          <a:xfrm>
            <a:off x="6126480" y="2011680"/>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6784848" y="1993392"/>
            <a:ext cx="4480560" cy="32004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Sin información futura</a:t>
            </a:r>
            <a:endParaRPr lang="en-US" sz="1600" dirty="0"/>
          </a:p>
        </p:txBody>
      </p:sp>
      <p:sp>
        <p:nvSpPr>
          <p:cNvPr id="11" name="Text 9"/>
          <p:cNvSpPr/>
          <p:nvPr/>
        </p:nvSpPr>
        <p:spPr>
          <a:xfrm>
            <a:off x="6784848" y="2359152"/>
            <a:ext cx="4572000" cy="1005840"/>
          </a:xfrm>
          <a:prstGeom prst="rect">
            <a:avLst/>
          </a:prstGeom>
          <a:noFill/>
          <a:ln/>
        </p:spPr>
        <p:txBody>
          <a:bodyPr wrap="square" lIns="0" tIns="0" rIns="0" bIns="0" rtlCol="0" anchor="ctr"/>
          <a:lstStyle/>
          <a:p>
            <a:pPr indent="0" marL="0">
              <a:buNone/>
            </a:pPr>
            <a:r>
              <a:rPr lang="en-US" sz="1300" dirty="0">
                <a:solidFill>
                  <a:srgbClr val="5A6B75"/>
                </a:solidFill>
                <a:latin typeface="Calibri" pitchFamily="34" charset="0"/>
                <a:ea typeface="Calibri" pitchFamily="34" charset="-122"/>
                <a:cs typeface="Calibri" pitchFamily="34" charset="-120"/>
              </a:rPr>
              <a:t>En cada fecha, el modelo se re-calculó usando únicamente lo que se sabía hasta ese momento.</a:t>
            </a:r>
            <a:endParaRPr lang="en-US" sz="1300" dirty="0"/>
          </a:p>
        </p:txBody>
      </p:sp>
      <p:sp>
        <p:nvSpPr>
          <p:cNvPr id="12" name="Shape 10"/>
          <p:cNvSpPr/>
          <p:nvPr/>
        </p:nvSpPr>
        <p:spPr>
          <a:xfrm>
            <a:off x="640080" y="3794760"/>
            <a:ext cx="457200" cy="457200"/>
          </a:xfrm>
          <a:prstGeom prst="ellipse">
            <a:avLst/>
          </a:prstGeom>
          <a:solidFill>
            <a:srgbClr val="E8A33D"/>
          </a:solidFill>
          <a:ln w="12700">
            <a:solidFill>
              <a:srgbClr val="E8A33D"/>
            </a:solidFill>
            <a:prstDash val="solid"/>
          </a:ln>
        </p:spPr>
      </p:sp>
      <p:sp>
        <p:nvSpPr>
          <p:cNvPr id="13" name="Text 11"/>
          <p:cNvSpPr/>
          <p:nvPr/>
        </p:nvSpPr>
        <p:spPr>
          <a:xfrm>
            <a:off x="640080" y="3794760"/>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98448" y="3776472"/>
            <a:ext cx="4480560" cy="32004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Calendario real de publicación</a:t>
            </a:r>
            <a:endParaRPr lang="en-US" sz="1600" dirty="0"/>
          </a:p>
        </p:txBody>
      </p:sp>
      <p:sp>
        <p:nvSpPr>
          <p:cNvPr id="15" name="Text 13"/>
          <p:cNvSpPr/>
          <p:nvPr/>
        </p:nvSpPr>
        <p:spPr>
          <a:xfrm>
            <a:off x="1298448" y="4142232"/>
            <a:ext cx="4572000" cy="1005840"/>
          </a:xfrm>
          <a:prstGeom prst="rect">
            <a:avLst/>
          </a:prstGeom>
          <a:noFill/>
          <a:ln/>
        </p:spPr>
        <p:txBody>
          <a:bodyPr wrap="square" lIns="0" tIns="0" rIns="0" bIns="0" rtlCol="0" anchor="ctr"/>
          <a:lstStyle/>
          <a:p>
            <a:pPr indent="0" marL="0">
              <a:buNone/>
            </a:pPr>
            <a:r>
              <a:rPr lang="en-US" sz="1300" dirty="0">
                <a:solidFill>
                  <a:srgbClr val="5A6B75"/>
                </a:solidFill>
                <a:latin typeface="Calibri" pitchFamily="34" charset="0"/>
                <a:ea typeface="Calibri" pitchFamily="34" charset="-122"/>
                <a:cs typeface="Calibri" pitchFamily="34" charset="-120"/>
              </a:rPr>
              <a:t>Cada indicador entró con el retraso con el que realmente se publica, ni un día antes.</a:t>
            </a:r>
            <a:endParaRPr lang="en-US" sz="1300" dirty="0"/>
          </a:p>
        </p:txBody>
      </p:sp>
      <p:sp>
        <p:nvSpPr>
          <p:cNvPr id="16" name="Shape 14"/>
          <p:cNvSpPr/>
          <p:nvPr/>
        </p:nvSpPr>
        <p:spPr>
          <a:xfrm>
            <a:off x="6126480" y="3794760"/>
            <a:ext cx="457200" cy="457200"/>
          </a:xfrm>
          <a:prstGeom prst="ellipse">
            <a:avLst/>
          </a:prstGeom>
          <a:solidFill>
            <a:srgbClr val="E8A33D"/>
          </a:solidFill>
          <a:ln w="12700">
            <a:solidFill>
              <a:srgbClr val="E8A33D"/>
            </a:solidFill>
            <a:prstDash val="solid"/>
          </a:ln>
        </p:spPr>
      </p:sp>
      <p:sp>
        <p:nvSpPr>
          <p:cNvPr id="17" name="Text 15"/>
          <p:cNvSpPr/>
          <p:nvPr/>
        </p:nvSpPr>
        <p:spPr>
          <a:xfrm>
            <a:off x="6126480" y="3794760"/>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6784848" y="3776472"/>
            <a:ext cx="4480560" cy="32004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Comparación contra alternativas</a:t>
            </a:r>
            <a:endParaRPr lang="en-US" sz="1600" dirty="0"/>
          </a:p>
        </p:txBody>
      </p:sp>
      <p:sp>
        <p:nvSpPr>
          <p:cNvPr id="19" name="Text 17"/>
          <p:cNvSpPr/>
          <p:nvPr/>
        </p:nvSpPr>
        <p:spPr>
          <a:xfrm>
            <a:off x="6784848" y="4142232"/>
            <a:ext cx="4572000" cy="1005840"/>
          </a:xfrm>
          <a:prstGeom prst="rect">
            <a:avLst/>
          </a:prstGeom>
          <a:noFill/>
          <a:ln/>
        </p:spPr>
        <p:txBody>
          <a:bodyPr wrap="square" lIns="0" tIns="0" rIns="0" bIns="0" rtlCol="0" anchor="ctr"/>
          <a:lstStyle/>
          <a:p>
            <a:pPr indent="0" marL="0">
              <a:buNone/>
            </a:pPr>
            <a:r>
              <a:rPr lang="en-US" sz="1300" dirty="0">
                <a:solidFill>
                  <a:srgbClr val="5A6B75"/>
                </a:solidFill>
                <a:latin typeface="Calibri" pitchFamily="34" charset="0"/>
                <a:ea typeface="Calibri" pitchFamily="34" charset="-122"/>
                <a:cs typeface="Calibri" pitchFamily="34" charset="-120"/>
              </a:rPr>
              <a:t>Se midió contra el método simple de referencia y contra nuestra versión anterior.</a:t>
            </a:r>
            <a:endParaRPr lang="en-US" sz="1300" dirty="0"/>
          </a:p>
        </p:txBody>
      </p:sp>
      <p:sp>
        <p:nvSpPr>
          <p:cNvPr id="20" name="Shape 18"/>
          <p:cNvSpPr/>
          <p:nvPr/>
        </p:nvSpPr>
        <p:spPr>
          <a:xfrm>
            <a:off x="640080" y="5532120"/>
            <a:ext cx="10881360" cy="731520"/>
          </a:xfrm>
          <a:prstGeom prst="roundRect">
            <a:avLst>
              <a:gd name="adj" fmla="val 11250"/>
            </a:avLst>
          </a:prstGeom>
          <a:solidFill>
            <a:srgbClr val="F4F7F8"/>
          </a:solidFill>
          <a:ln w="12700">
            <a:solidFill>
              <a:srgbClr val="F4F7F8"/>
            </a:solidFill>
            <a:prstDash val="solid"/>
          </a:ln>
        </p:spPr>
      </p:sp>
      <p:sp>
        <p:nvSpPr>
          <p:cNvPr id="21" name="Text 19"/>
          <p:cNvSpPr/>
          <p:nvPr/>
        </p:nvSpPr>
        <p:spPr>
          <a:xfrm>
            <a:off x="960120" y="5650992"/>
            <a:ext cx="10241280" cy="502920"/>
          </a:xfrm>
          <a:prstGeom prst="rect">
            <a:avLst/>
          </a:prstGeom>
          <a:noFill/>
          <a:ln/>
        </p:spPr>
        <p:txBody>
          <a:bodyPr wrap="square" lIns="0" tIns="0" rIns="0" bIns="0" rtlCol="0" anchor="ctr"/>
          <a:lstStyle/>
          <a:p>
            <a:pPr indent="0" marL="0">
              <a:buNone/>
            </a:pPr>
            <a:r>
              <a:rPr lang="en-US" sz="1400" b="1" dirty="0">
                <a:solidFill>
                  <a:srgbClr val="0D3B4F"/>
                </a:solidFill>
                <a:latin typeface="Calibri" pitchFamily="34" charset="0"/>
                <a:ea typeface="Calibri" pitchFamily="34" charset="-122"/>
                <a:cs typeface="Calibri" pitchFamily="34" charset="-120"/>
              </a:rPr>
              <a:t>Ningún resultado de esta presentación proviene de ajustar el modelo a datos que ya conocíamos.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Resultado 1: acierta la dirección de la economía</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¿El trimestre fue de expansión o de contracción? Es la pregunta que mueve decisiones</a:t>
            </a:r>
            <a:endParaRPr lang="en-US" sz="1500" dirty="0"/>
          </a:p>
        </p:txBody>
      </p:sp>
      <p:sp>
        <p:nvSpPr>
          <p:cNvPr id="4" name="Text 2"/>
          <p:cNvSpPr/>
          <p:nvPr/>
        </p:nvSpPr>
        <p:spPr>
          <a:xfrm>
            <a:off x="640080" y="1965960"/>
            <a:ext cx="2926080" cy="1234440"/>
          </a:xfrm>
          <a:prstGeom prst="rect">
            <a:avLst/>
          </a:prstGeom>
          <a:noFill/>
          <a:ln/>
        </p:spPr>
        <p:txBody>
          <a:bodyPr wrap="square" lIns="0" tIns="0" rIns="0" bIns="0" rtlCol="0" anchor="ctr"/>
          <a:lstStyle/>
          <a:p>
            <a:pPr indent="0" marL="0">
              <a:buNone/>
            </a:pPr>
            <a:r>
              <a:rPr lang="en-US" sz="7600" b="1" dirty="0">
                <a:solidFill>
                  <a:srgbClr val="2E8AA8"/>
                </a:solidFill>
                <a:latin typeface="Calibri" pitchFamily="34" charset="0"/>
                <a:ea typeface="Calibri" pitchFamily="34" charset="-122"/>
                <a:cs typeface="Calibri" pitchFamily="34" charset="-120"/>
              </a:rPr>
              <a:t>76%</a:t>
            </a:r>
            <a:endParaRPr lang="en-US" sz="7600" dirty="0"/>
          </a:p>
        </p:txBody>
      </p:sp>
      <p:sp>
        <p:nvSpPr>
          <p:cNvPr id="5" name="Text 3"/>
          <p:cNvSpPr/>
          <p:nvPr/>
        </p:nvSpPr>
        <p:spPr>
          <a:xfrm>
            <a:off x="640080" y="3246120"/>
            <a:ext cx="3108960" cy="1005840"/>
          </a:xfrm>
          <a:prstGeom prst="rect">
            <a:avLst/>
          </a:prstGeom>
          <a:noFill/>
          <a:ln/>
        </p:spPr>
        <p:txBody>
          <a:bodyPr wrap="square" lIns="0" tIns="0" rIns="0" bIns="0" rtlCol="0" anchor="ctr"/>
          <a:lstStyle/>
          <a:p>
            <a:pPr indent="0" marL="0">
              <a:buNone/>
            </a:pPr>
            <a:r>
              <a:rPr lang="en-US" sz="1400" dirty="0">
                <a:solidFill>
                  <a:srgbClr val="5A6B75"/>
                </a:solidFill>
                <a:latin typeface="Calibri" pitchFamily="34" charset="0"/>
                <a:ea typeface="Calibri" pitchFamily="34" charset="-122"/>
                <a:cs typeface="Calibri" pitchFamily="34" charset="-120"/>
              </a:rPr>
              <a:t>de acierto en la dirección,</a:t>
            </a:r>
            <a:endParaRPr lang="en-US" sz="1400" dirty="0"/>
          </a:p>
          <a:p>
            <a:pPr indent="0" marL="0">
              <a:buNone/>
            </a:pPr>
            <a:r>
              <a:rPr lang="en-US" sz="1400" dirty="0">
                <a:solidFill>
                  <a:srgbClr val="5A6B75"/>
                </a:solidFill>
                <a:latin typeface="Calibri" pitchFamily="34" charset="0"/>
                <a:ea typeface="Calibri" pitchFamily="34" charset="-122"/>
                <a:cs typeface="Calibri" pitchFamily="34" charset="-120"/>
              </a:rPr>
              <a:t>dos meses y medio antes</a:t>
            </a:r>
            <a:endParaRPr lang="en-US" sz="1400" dirty="0"/>
          </a:p>
          <a:p>
            <a:pPr indent="0" marL="0">
              <a:buNone/>
            </a:pPr>
            <a:r>
              <a:rPr lang="en-US" sz="1400" dirty="0">
                <a:solidFill>
                  <a:srgbClr val="5A6B75"/>
                </a:solidFill>
                <a:latin typeface="Calibri" pitchFamily="34" charset="0"/>
                <a:ea typeface="Calibri" pitchFamily="34" charset="-122"/>
                <a:cs typeface="Calibri" pitchFamily="34" charset="-120"/>
              </a:rPr>
              <a:t>del dato oficial</a:t>
            </a:r>
            <a:endParaRPr lang="en-US" sz="1400" dirty="0"/>
          </a:p>
        </p:txBody>
      </p:sp>
      <p:sp>
        <p:nvSpPr>
          <p:cNvPr id="6" name="Shape 4"/>
          <p:cNvSpPr/>
          <p:nvPr/>
        </p:nvSpPr>
        <p:spPr>
          <a:xfrm>
            <a:off x="4297680" y="1920240"/>
            <a:ext cx="7223760" cy="3017520"/>
          </a:xfrm>
          <a:prstGeom prst="roundRect">
            <a:avLst>
              <a:gd name="adj" fmla="val 2727"/>
            </a:avLst>
          </a:prstGeom>
          <a:solidFill>
            <a:srgbClr val="F4F7F8"/>
          </a:solidFill>
          <a:ln w="12700">
            <a:solidFill>
              <a:srgbClr val="F4F7F8"/>
            </a:solidFill>
            <a:prstDash val="solid"/>
          </a:ln>
        </p:spPr>
      </p:sp>
      <p:sp>
        <p:nvSpPr>
          <p:cNvPr id="7" name="Text 5"/>
          <p:cNvSpPr/>
          <p:nvPr/>
        </p:nvSpPr>
        <p:spPr>
          <a:xfrm>
            <a:off x="4617720" y="2148840"/>
            <a:ext cx="6583680" cy="32004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Una advertencia importante, para leerlo bien</a:t>
            </a:r>
            <a:endParaRPr lang="en-US" sz="1600" dirty="0"/>
          </a:p>
        </p:txBody>
      </p:sp>
      <p:sp>
        <p:nvSpPr>
          <p:cNvPr id="8" name="Text 6"/>
          <p:cNvSpPr/>
          <p:nvPr/>
        </p:nvSpPr>
        <p:spPr>
          <a:xfrm>
            <a:off x="4617720" y="2560320"/>
            <a:ext cx="6583680" cy="2194560"/>
          </a:xfrm>
          <a:prstGeom prst="rect">
            <a:avLst/>
          </a:prstGeom>
          <a:noFill/>
          <a:ln/>
        </p:spPr>
        <p:txBody>
          <a:bodyPr wrap="square" lIns="0" tIns="0" rIns="0" bIns="0" rtlCol="0" anchor="ctr"/>
          <a:lstStyle/>
          <a:p>
            <a:pPr indent="0" marL="0">
              <a:buNone/>
            </a:pPr>
            <a:r>
              <a:rPr lang="en-US" sz="1350" dirty="0">
                <a:solidFill>
                  <a:srgbClr val="5A6B75"/>
                </a:solidFill>
                <a:latin typeface="Calibri" pitchFamily="34" charset="0"/>
                <a:ea typeface="Calibri" pitchFamily="34" charset="-122"/>
                <a:cs typeface="Calibri" pitchFamily="34" charset="-120"/>
              </a:rPr>
              <a:t>El método simple de referencia acierta 62%. Parece razonable, pero es un espejismo: como la economía argentina crece en la mayoría de los trimestres, decir siempre "crece" acierta seguido sin ninguna capacidad real.</a:t>
            </a:r>
            <a:endParaRPr lang="en-US" sz="1350" dirty="0"/>
          </a:p>
          <a:p>
            <a:pPr indent="0" marL="0">
              <a:buNone/>
            </a:pPr>
            <a:endParaRPr lang="en-US" sz="1350" dirty="0"/>
          </a:p>
          <a:p>
            <a:pPr indent="0" marL="0">
              <a:buNone/>
            </a:pPr>
            <a:r>
              <a:rPr lang="en-US" sz="1350" dirty="0">
                <a:solidFill>
                  <a:srgbClr val="5A6B75"/>
                </a:solidFill>
                <a:latin typeface="Calibri" pitchFamily="34" charset="0"/>
                <a:ea typeface="Calibri" pitchFamily="34" charset="-122"/>
                <a:cs typeface="Calibri" pitchFamily="34" charset="-120"/>
              </a:rPr>
              <a:t>Aplicamos un test estadístico que corrige exactamente ese sesgo. El resultado: el 62% del método simple es indistinguible del azar. El 76% del modelo sí refleja capacidad genuina, con altísima significancia.</a:t>
            </a:r>
            <a:endParaRPr lang="en-US" sz="1350" dirty="0"/>
          </a:p>
        </p:txBody>
      </p:sp>
      <p:sp>
        <p:nvSpPr>
          <p:cNvPr id="9" name="Shape 7"/>
          <p:cNvSpPr/>
          <p:nvPr/>
        </p:nvSpPr>
        <p:spPr>
          <a:xfrm>
            <a:off x="640080" y="5257800"/>
            <a:ext cx="10881360" cy="960120"/>
          </a:xfrm>
          <a:prstGeom prst="roundRect">
            <a:avLst>
              <a:gd name="adj" fmla="val 8571"/>
            </a:avLst>
          </a:prstGeom>
          <a:solidFill>
            <a:srgbClr val="0D3B4F"/>
          </a:solidFill>
          <a:ln w="12700">
            <a:solidFill>
              <a:srgbClr val="0D3B4F"/>
            </a:solidFill>
            <a:prstDash val="solid"/>
          </a:ln>
        </p:spPr>
      </p:sp>
      <p:sp>
        <p:nvSpPr>
          <p:cNvPr id="10" name="Text 8"/>
          <p:cNvSpPr/>
          <p:nvPr/>
        </p:nvSpPr>
        <p:spPr>
          <a:xfrm>
            <a:off x="960120" y="5440680"/>
            <a:ext cx="1024128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Traducción para decidir: cuando el modelo dice que el trimestre es de expansión, acierta tres de cada cuatro veces.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Resultado 2: un tercio menos de error</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Error típico de la estimación en condiciones normales (puntos porcentuales de crecimiento)</a:t>
            </a:r>
            <a:endParaRPr lang="en-US" sz="1500" dirty="0"/>
          </a:p>
        </p:txBody>
      </p:sp>
      <p:graphicFrame>
        <p:nvGraphicFramePr>
          <p:cNvPr id="4" name="Chart 0" descr=""/>
          <p:cNvGraphicFramePr/>
          <p:nvPr/>
        </p:nvGraphicFramePr>
        <p:xfrm>
          <a:off x="640080" y="1874520"/>
          <a:ext cx="694944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874520"/>
            <a:ext cx="3566160" cy="1508760"/>
          </a:xfrm>
          <a:prstGeom prst="roundRect">
            <a:avLst>
              <a:gd name="adj" fmla="val 5455"/>
            </a:avLst>
          </a:prstGeom>
          <a:solidFill>
            <a:srgbClr val="E8F2F5"/>
          </a:solidFill>
          <a:ln w="12700">
            <a:solidFill>
              <a:srgbClr val="E8F2F5"/>
            </a:solidFill>
            <a:prstDash val="solid"/>
          </a:ln>
        </p:spPr>
      </p:sp>
      <p:sp>
        <p:nvSpPr>
          <p:cNvPr id="6" name="Text 3"/>
          <p:cNvSpPr/>
          <p:nvPr/>
        </p:nvSpPr>
        <p:spPr>
          <a:xfrm>
            <a:off x="8229600" y="2011680"/>
            <a:ext cx="3017520" cy="685800"/>
          </a:xfrm>
          <a:prstGeom prst="rect">
            <a:avLst/>
          </a:prstGeom>
          <a:noFill/>
          <a:ln/>
        </p:spPr>
        <p:txBody>
          <a:bodyPr wrap="square" lIns="0" tIns="0" rIns="0" bIns="0" rtlCol="0" anchor="ctr"/>
          <a:lstStyle/>
          <a:p>
            <a:pPr indent="0" marL="0">
              <a:buNone/>
            </a:pPr>
            <a:r>
              <a:rPr lang="en-US" sz="4000" b="1" dirty="0">
                <a:solidFill>
                  <a:srgbClr val="2E8AA8"/>
                </a:solidFill>
                <a:latin typeface="Calibri" pitchFamily="34" charset="0"/>
                <a:ea typeface="Calibri" pitchFamily="34" charset="-122"/>
                <a:cs typeface="Calibri" pitchFamily="34" charset="-120"/>
              </a:rPr>
              <a:t>−33%</a:t>
            </a:r>
            <a:endParaRPr lang="en-US" sz="4000" dirty="0"/>
          </a:p>
        </p:txBody>
      </p:sp>
      <p:sp>
        <p:nvSpPr>
          <p:cNvPr id="7" name="Text 4"/>
          <p:cNvSpPr/>
          <p:nvPr/>
        </p:nvSpPr>
        <p:spPr>
          <a:xfrm>
            <a:off x="8229600" y="2743200"/>
            <a:ext cx="3017520" cy="548640"/>
          </a:xfrm>
          <a:prstGeom prst="rect">
            <a:avLst/>
          </a:prstGeom>
          <a:noFill/>
          <a:ln/>
        </p:spPr>
        <p:txBody>
          <a:bodyPr wrap="square" lIns="0" tIns="0" rIns="0" bIns="0" rtlCol="0" anchor="ctr"/>
          <a:lstStyle/>
          <a:p>
            <a:pPr indent="0" marL="0">
              <a:buNone/>
            </a:pPr>
            <a:r>
              <a:rPr lang="en-US" sz="1250" dirty="0">
                <a:solidFill>
                  <a:srgbClr val="5A6B75"/>
                </a:solidFill>
                <a:latin typeface="Calibri" pitchFamily="34" charset="0"/>
                <a:ea typeface="Calibri" pitchFamily="34" charset="-122"/>
                <a:cs typeface="Calibri" pitchFamily="34" charset="-120"/>
              </a:rPr>
              <a:t>menos error que el método</a:t>
            </a:r>
            <a:endParaRPr lang="en-US" sz="1250" dirty="0"/>
          </a:p>
          <a:p>
            <a:pPr indent="0" marL="0">
              <a:buNone/>
            </a:pPr>
            <a:r>
              <a:rPr lang="en-US" sz="1250" dirty="0">
                <a:solidFill>
                  <a:srgbClr val="5A6B75"/>
                </a:solidFill>
                <a:latin typeface="Calibri" pitchFamily="34" charset="0"/>
                <a:ea typeface="Calibri" pitchFamily="34" charset="-122"/>
                <a:cs typeface="Calibri" pitchFamily="34" charset="-120"/>
              </a:rPr>
              <a:t>simple de referencia</a:t>
            </a:r>
            <a:endParaRPr lang="en-US" sz="1250" dirty="0"/>
          </a:p>
        </p:txBody>
      </p:sp>
      <p:sp>
        <p:nvSpPr>
          <p:cNvPr id="8" name="Shape 5"/>
          <p:cNvSpPr/>
          <p:nvPr/>
        </p:nvSpPr>
        <p:spPr>
          <a:xfrm>
            <a:off x="7955280" y="3566160"/>
            <a:ext cx="3566160" cy="1554480"/>
          </a:xfrm>
          <a:prstGeom prst="roundRect">
            <a:avLst>
              <a:gd name="adj" fmla="val 5294"/>
            </a:avLst>
          </a:prstGeom>
          <a:solidFill>
            <a:srgbClr val="F4F7F8"/>
          </a:solidFill>
          <a:ln w="12700">
            <a:solidFill>
              <a:srgbClr val="F4F7F8"/>
            </a:solidFill>
            <a:prstDash val="solid"/>
          </a:ln>
        </p:spPr>
      </p:sp>
      <p:sp>
        <p:nvSpPr>
          <p:cNvPr id="9" name="Text 6"/>
          <p:cNvSpPr/>
          <p:nvPr/>
        </p:nvSpPr>
        <p:spPr>
          <a:xfrm>
            <a:off x="8229600" y="3749040"/>
            <a:ext cx="3017520" cy="640080"/>
          </a:xfrm>
          <a:prstGeom prst="rect">
            <a:avLst/>
          </a:prstGeom>
          <a:noFill/>
          <a:ln/>
        </p:spPr>
        <p:txBody>
          <a:bodyPr wrap="square" lIns="0" tIns="0" rIns="0" bIns="0" rtlCol="0" anchor="ctr"/>
          <a:lstStyle/>
          <a:p>
            <a:pPr indent="0" marL="0">
              <a:buNone/>
            </a:pPr>
            <a:r>
              <a:rPr lang="en-US" sz="1500" b="1" dirty="0">
                <a:solidFill>
                  <a:srgbClr val="1A2A33"/>
                </a:solidFill>
                <a:latin typeface="Calibri" pitchFamily="34" charset="0"/>
                <a:ea typeface="Calibri" pitchFamily="34" charset="-122"/>
                <a:cs typeface="Calibri" pitchFamily="34" charset="-120"/>
              </a:rPr>
              <a:t>Primero en superar</a:t>
            </a:r>
            <a:endParaRPr lang="en-US" sz="1500" dirty="0"/>
          </a:p>
          <a:p>
            <a:pPr indent="0" marL="0">
              <a:buNone/>
            </a:pPr>
            <a:r>
              <a:rPr lang="en-US" sz="1500" b="1" dirty="0">
                <a:solidFill>
                  <a:srgbClr val="1A2A33"/>
                </a:solidFill>
                <a:latin typeface="Calibri" pitchFamily="34" charset="0"/>
                <a:ea typeface="Calibri" pitchFamily="34" charset="-122"/>
                <a:cs typeface="Calibri" pitchFamily="34" charset="-120"/>
              </a:rPr>
              <a:t>la prueba estadística</a:t>
            </a:r>
            <a:endParaRPr lang="en-US" sz="1500" dirty="0"/>
          </a:p>
        </p:txBody>
      </p:sp>
      <p:sp>
        <p:nvSpPr>
          <p:cNvPr id="10" name="Text 7"/>
          <p:cNvSpPr/>
          <p:nvPr/>
        </p:nvSpPr>
        <p:spPr>
          <a:xfrm>
            <a:off x="8229600" y="4343400"/>
            <a:ext cx="3063240" cy="777240"/>
          </a:xfrm>
          <a:prstGeom prst="rect">
            <a:avLst/>
          </a:prstGeom>
          <a:noFill/>
          <a:ln/>
        </p:spPr>
        <p:txBody>
          <a:bodyPr wrap="square" lIns="0" tIns="0" rIns="0" bIns="0" rtlCol="0" anchor="ctr"/>
          <a:lstStyle/>
          <a:p>
            <a:pPr indent="0" marL="0">
              <a:buNone/>
            </a:pPr>
            <a:r>
              <a:rPr lang="en-US" sz="1150" dirty="0">
                <a:solidFill>
                  <a:srgbClr val="5A6B75"/>
                </a:solidFill>
                <a:latin typeface="Calibri" pitchFamily="34" charset="0"/>
                <a:ea typeface="Calibri" pitchFamily="34" charset="-122"/>
                <a:cs typeface="Calibri" pitchFamily="34" charset="-120"/>
              </a:rPr>
              <a:t>Es el único de los modelos evaluados cuya ventaja sobre el método de referencia es estadísticamente comprobable.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Para qué sirve y para qué no</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Ser preciso en esto es lo que evita que el modelo se use mal</a:t>
            </a:r>
            <a:endParaRPr lang="en-US" sz="1500" dirty="0"/>
          </a:p>
        </p:txBody>
      </p:sp>
      <p:sp>
        <p:nvSpPr>
          <p:cNvPr id="4" name="Shape 2"/>
          <p:cNvSpPr/>
          <p:nvPr/>
        </p:nvSpPr>
        <p:spPr>
          <a:xfrm>
            <a:off x="640080" y="1920240"/>
            <a:ext cx="5120640" cy="3566160"/>
          </a:xfrm>
          <a:prstGeom prst="roundRect">
            <a:avLst>
              <a:gd name="adj" fmla="val 2308"/>
            </a:avLst>
          </a:prstGeom>
          <a:solidFill>
            <a:srgbClr val="EAF3EE"/>
          </a:solidFill>
          <a:ln w="12700">
            <a:solidFill>
              <a:srgbClr val="EAF3EE"/>
            </a:solidFill>
            <a:prstDash val="solid"/>
          </a:ln>
        </p:spPr>
      </p:sp>
      <p:sp>
        <p:nvSpPr>
          <p:cNvPr id="5" name="Shape 3"/>
          <p:cNvSpPr/>
          <p:nvPr/>
        </p:nvSpPr>
        <p:spPr>
          <a:xfrm>
            <a:off x="960120" y="2194560"/>
            <a:ext cx="457200" cy="457200"/>
          </a:xfrm>
          <a:prstGeom prst="ellipse">
            <a:avLst/>
          </a:prstGeom>
          <a:solidFill>
            <a:srgbClr val="2E7D5B"/>
          </a:solidFill>
          <a:ln w="12700">
            <a:solidFill>
              <a:srgbClr val="2E7D5B"/>
            </a:solidFill>
            <a:prstDash val="solid"/>
          </a:ln>
        </p:spPr>
      </p:sp>
      <p:sp>
        <p:nvSpPr>
          <p:cNvPr id="6" name="Text 4"/>
          <p:cNvSpPr/>
          <p:nvPr/>
        </p:nvSpPr>
        <p:spPr>
          <a:xfrm>
            <a:off x="96012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600200" y="2240280"/>
            <a:ext cx="3840480" cy="365760"/>
          </a:xfrm>
          <a:prstGeom prst="rect">
            <a:avLst/>
          </a:prstGeom>
          <a:noFill/>
          <a:ln/>
        </p:spPr>
        <p:txBody>
          <a:bodyPr wrap="square" lIns="0" tIns="0" rIns="0" bIns="0" rtlCol="0" anchor="ctr"/>
          <a:lstStyle/>
          <a:p>
            <a:pPr indent="0" marL="0">
              <a:buNone/>
            </a:pPr>
            <a:r>
              <a:rPr lang="en-US" sz="1900" b="1" dirty="0">
                <a:solidFill>
                  <a:srgbClr val="2E7D5B"/>
                </a:solidFill>
                <a:latin typeface="Calibri" pitchFamily="34" charset="0"/>
                <a:ea typeface="Calibri" pitchFamily="34" charset="-122"/>
                <a:cs typeface="Calibri" pitchFamily="34" charset="-120"/>
              </a:rPr>
              <a:t>Sirve para</a:t>
            </a:r>
            <a:endParaRPr lang="en-US" sz="1900" dirty="0"/>
          </a:p>
        </p:txBody>
      </p:sp>
      <p:sp>
        <p:nvSpPr>
          <p:cNvPr id="8" name="Text 6"/>
          <p:cNvSpPr/>
          <p:nvPr/>
        </p:nvSpPr>
        <p:spPr>
          <a:xfrm>
            <a:off x="1005840" y="2834640"/>
            <a:ext cx="4526280" cy="24688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Saber si la economía se está expandiendo o contrayendo, antes que el dato oficial</a:t>
            </a:r>
            <a:endParaRPr lang="en-US" sz="1350" dirty="0"/>
          </a:p>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Anticipar puntos de giro del ciclo</a:t>
            </a:r>
            <a:endParaRPr lang="en-US" sz="1350" dirty="0"/>
          </a:p>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Dar contexto macro a decisiones de exposición y cobertura</a:t>
            </a:r>
            <a:endParaRPr lang="en-US" sz="1350" dirty="0"/>
          </a:p>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Monitorear el pulso de la actividad mes a mes</a:t>
            </a:r>
            <a:endParaRPr lang="en-US" sz="1350" dirty="0"/>
          </a:p>
        </p:txBody>
      </p:sp>
      <p:sp>
        <p:nvSpPr>
          <p:cNvPr id="9" name="Shape 7"/>
          <p:cNvSpPr/>
          <p:nvPr/>
        </p:nvSpPr>
        <p:spPr>
          <a:xfrm>
            <a:off x="6400800" y="1920240"/>
            <a:ext cx="5120640" cy="3566160"/>
          </a:xfrm>
          <a:prstGeom prst="roundRect">
            <a:avLst>
              <a:gd name="adj" fmla="val 2308"/>
            </a:avLst>
          </a:prstGeom>
          <a:solidFill>
            <a:srgbClr val="FBF0E4"/>
          </a:solidFill>
          <a:ln w="12700">
            <a:solidFill>
              <a:srgbClr val="FBF0E4"/>
            </a:solidFill>
            <a:prstDash val="solid"/>
          </a:ln>
        </p:spPr>
      </p:sp>
      <p:sp>
        <p:nvSpPr>
          <p:cNvPr id="10" name="Shape 8"/>
          <p:cNvSpPr/>
          <p:nvPr/>
        </p:nvSpPr>
        <p:spPr>
          <a:xfrm>
            <a:off x="6720840" y="2194560"/>
            <a:ext cx="457200" cy="457200"/>
          </a:xfrm>
          <a:prstGeom prst="ellipse">
            <a:avLst/>
          </a:prstGeom>
          <a:solidFill>
            <a:srgbClr val="E8A33D"/>
          </a:solidFill>
          <a:ln w="12700">
            <a:solidFill>
              <a:srgbClr val="E8A33D"/>
            </a:solidFill>
            <a:prstDash val="solid"/>
          </a:ln>
        </p:spPr>
      </p:sp>
      <p:sp>
        <p:nvSpPr>
          <p:cNvPr id="11" name="Text 9"/>
          <p:cNvSpPr/>
          <p:nvPr/>
        </p:nvSpPr>
        <p:spPr>
          <a:xfrm>
            <a:off x="6720840" y="2194560"/>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7360920" y="2240280"/>
            <a:ext cx="3840480" cy="365760"/>
          </a:xfrm>
          <a:prstGeom prst="rect">
            <a:avLst/>
          </a:prstGeom>
          <a:noFill/>
          <a:ln/>
        </p:spPr>
        <p:txBody>
          <a:bodyPr wrap="square" lIns="0" tIns="0" rIns="0" bIns="0" rtlCol="0" anchor="ctr"/>
          <a:lstStyle/>
          <a:p>
            <a:pPr indent="0" marL="0">
              <a:buNone/>
            </a:pPr>
            <a:r>
              <a:rPr lang="en-US" sz="1900" b="1" dirty="0">
                <a:solidFill>
                  <a:srgbClr val="A9741F"/>
                </a:solidFill>
                <a:latin typeface="Calibri" pitchFamily="34" charset="0"/>
                <a:ea typeface="Calibri" pitchFamily="34" charset="-122"/>
                <a:cs typeface="Calibri" pitchFamily="34" charset="-120"/>
              </a:rPr>
              <a:t>No sirve para</a:t>
            </a:r>
            <a:endParaRPr lang="en-US" sz="1900" dirty="0"/>
          </a:p>
        </p:txBody>
      </p:sp>
      <p:sp>
        <p:nvSpPr>
          <p:cNvPr id="13" name="Text 11"/>
          <p:cNvSpPr/>
          <p:nvPr/>
        </p:nvSpPr>
        <p:spPr>
          <a:xfrm>
            <a:off x="6766560" y="2834640"/>
            <a:ext cx="4526280" cy="24688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Dar una cifra exacta de PBI: explica cerca de la mitad de sus variaciones</a:t>
            </a:r>
            <a:endParaRPr lang="en-US" sz="1350" dirty="0"/>
          </a:p>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Reemplazar el dato oficial del INDEC</a:t>
            </a:r>
            <a:endParaRPr lang="en-US" sz="1350" dirty="0"/>
          </a:p>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Proyectar más allá del trimestre en curso con precisión de nivel</a:t>
            </a:r>
            <a:endParaRPr lang="en-US" sz="1350" dirty="0"/>
          </a:p>
          <a:p>
            <a:pPr marL="342900" indent="-342900">
              <a:spcAft>
                <a:spcPts val="800"/>
              </a:spcAft>
              <a:buSzPct val="100000"/>
              <a:buChar char="•"/>
            </a:pPr>
            <a:r>
              <a:rPr lang="en-US" sz="1350" dirty="0">
                <a:solidFill>
                  <a:srgbClr val="1A2A33"/>
                </a:solidFill>
                <a:latin typeface="Calibri" pitchFamily="34" charset="0"/>
                <a:ea typeface="Calibri" pitchFamily="34" charset="-122"/>
                <a:cs typeface="Calibri" pitchFamily="34" charset="-120"/>
              </a:rPr>
              <a:t>Operar de forma automática, sin criterio humano</a:t>
            </a:r>
            <a:endParaRPr lang="en-US" sz="1350" dirty="0"/>
          </a:p>
        </p:txBody>
      </p:sp>
      <p:sp>
        <p:nvSpPr>
          <p:cNvPr id="14" name="Text 12"/>
          <p:cNvSpPr/>
          <p:nvPr/>
        </p:nvSpPr>
        <p:spPr>
          <a:xfrm>
            <a:off x="640080" y="5715000"/>
            <a:ext cx="10881360" cy="457200"/>
          </a:xfrm>
          <a:prstGeom prst="rect">
            <a:avLst/>
          </a:prstGeom>
          <a:noFill/>
          <a:ln/>
        </p:spPr>
        <p:txBody>
          <a:bodyPr wrap="square" lIns="0" tIns="0" rIns="0" bIns="0" rtlCol="0" anchor="ctr"/>
          <a:lstStyle/>
          <a:p>
            <a:pPr indent="0" marL="0">
              <a:buNone/>
            </a:pPr>
            <a:r>
              <a:rPr lang="en-US" sz="1400" i="1" dirty="0">
                <a:solidFill>
                  <a:srgbClr val="5A6B75"/>
                </a:solidFill>
                <a:latin typeface="Calibri" pitchFamily="34" charset="0"/>
                <a:ea typeface="Calibri" pitchFamily="34" charset="-122"/>
                <a:cs typeface="Calibri" pitchFamily="34" charset="-120"/>
              </a:rPr>
              <a:t>Lo presentamos así a propósito: un modelo bien usado dentro de sus límites vale más que uno sobrevendido.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Cuánta confianza merece: pruebas de estrés</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Un buen resultado puede ser suerte. Lo sometimos a tres pruebas para descartarlo</a:t>
            </a:r>
            <a:endParaRPr lang="en-US" sz="1500" dirty="0"/>
          </a:p>
        </p:txBody>
      </p:sp>
      <p:sp>
        <p:nvSpPr>
          <p:cNvPr id="4" name="Shape 2"/>
          <p:cNvSpPr/>
          <p:nvPr/>
        </p:nvSpPr>
        <p:spPr>
          <a:xfrm>
            <a:off x="640080" y="1965960"/>
            <a:ext cx="3291840" cy="2606040"/>
          </a:xfrm>
          <a:prstGeom prst="roundRect">
            <a:avLst>
              <a:gd name="adj" fmla="val 3158"/>
            </a:avLst>
          </a:prstGeom>
          <a:solidFill>
            <a:srgbClr val="F4F7F8"/>
          </a:solidFill>
          <a:ln w="12700">
            <a:solidFill>
              <a:srgbClr val="F4F7F8"/>
            </a:solidFill>
            <a:prstDash val="solid"/>
          </a:ln>
        </p:spPr>
      </p:sp>
      <p:sp>
        <p:nvSpPr>
          <p:cNvPr id="5" name="Text 3"/>
          <p:cNvSpPr/>
          <p:nvPr/>
        </p:nvSpPr>
        <p:spPr>
          <a:xfrm>
            <a:off x="914400" y="2212848"/>
            <a:ext cx="2788920" cy="36576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Cambiar la configuración</a:t>
            </a:r>
            <a:endParaRPr lang="en-US" sz="1600" dirty="0"/>
          </a:p>
        </p:txBody>
      </p:sp>
      <p:sp>
        <p:nvSpPr>
          <p:cNvPr id="6" name="Text 4"/>
          <p:cNvSpPr/>
          <p:nvPr/>
        </p:nvSpPr>
        <p:spPr>
          <a:xfrm>
            <a:off x="914400" y="2651760"/>
            <a:ext cx="2788920" cy="868680"/>
          </a:xfrm>
          <a:prstGeom prst="rect">
            <a:avLst/>
          </a:prstGeom>
          <a:noFill/>
          <a:ln/>
        </p:spPr>
        <p:txBody>
          <a:bodyPr wrap="square" lIns="0" tIns="0" rIns="0" bIns="0" rtlCol="0" anchor="ctr"/>
          <a:lstStyle/>
          <a:p>
            <a:pPr indent="0" marL="0">
              <a:buNone/>
            </a:pPr>
            <a:r>
              <a:rPr lang="en-US" sz="1250" dirty="0">
                <a:solidFill>
                  <a:srgbClr val="5A6B75"/>
                </a:solidFill>
                <a:latin typeface="Calibri" pitchFamily="34" charset="0"/>
                <a:ea typeface="Calibri" pitchFamily="34" charset="-122"/>
                <a:cs typeface="Calibri" pitchFamily="34" charset="-120"/>
              </a:rPr>
              <a:t>Se probaron cuatro configuraciones distintas del modelo.</a:t>
            </a:r>
            <a:endParaRPr lang="en-US" sz="1250" dirty="0"/>
          </a:p>
        </p:txBody>
      </p:sp>
      <p:sp>
        <p:nvSpPr>
          <p:cNvPr id="7" name="Shape 5"/>
          <p:cNvSpPr/>
          <p:nvPr/>
        </p:nvSpPr>
        <p:spPr>
          <a:xfrm>
            <a:off x="914400" y="3611880"/>
            <a:ext cx="2788920" cy="713232"/>
          </a:xfrm>
          <a:prstGeom prst="roundRect">
            <a:avLst>
              <a:gd name="adj" fmla="val 7692"/>
            </a:avLst>
          </a:prstGeom>
          <a:solidFill>
            <a:srgbClr val="E8F2F5"/>
          </a:solidFill>
          <a:ln w="12700">
            <a:solidFill>
              <a:srgbClr val="333333"/>
            </a:solidFill>
            <a:prstDash val="solid"/>
          </a:ln>
        </p:spPr>
      </p:sp>
      <p:sp>
        <p:nvSpPr>
          <p:cNvPr id="8" name="Text 6"/>
          <p:cNvSpPr/>
          <p:nvPr/>
        </p:nvSpPr>
        <p:spPr>
          <a:xfrm>
            <a:off x="1024128" y="3703320"/>
            <a:ext cx="2606040" cy="548640"/>
          </a:xfrm>
          <a:prstGeom prst="rect">
            <a:avLst/>
          </a:prstGeom>
          <a:noFill/>
          <a:ln/>
        </p:spPr>
        <p:txBody>
          <a:bodyPr wrap="square" lIns="0" tIns="0" rIns="0" bIns="0" rtlCol="0" anchor="ctr"/>
          <a:lstStyle/>
          <a:p>
            <a:pPr indent="0" marL="0">
              <a:buNone/>
            </a:pPr>
            <a:r>
              <a:rPr lang="en-US" sz="1200" b="1" dirty="0">
                <a:solidFill>
                  <a:srgbClr val="2E8AA8"/>
                </a:solidFill>
                <a:latin typeface="Calibri" pitchFamily="34" charset="0"/>
                <a:ea typeface="Calibri" pitchFamily="34" charset="-122"/>
                <a:cs typeface="Calibri" pitchFamily="34" charset="-120"/>
              </a:rPr>
              <a:t>Se mantiene en las cuatro</a:t>
            </a:r>
            <a:endParaRPr lang="en-US" sz="1200" dirty="0"/>
          </a:p>
        </p:txBody>
      </p:sp>
      <p:sp>
        <p:nvSpPr>
          <p:cNvPr id="9" name="Shape 7"/>
          <p:cNvSpPr/>
          <p:nvPr/>
        </p:nvSpPr>
        <p:spPr>
          <a:xfrm>
            <a:off x="4251960" y="1965960"/>
            <a:ext cx="3291840" cy="2606040"/>
          </a:xfrm>
          <a:prstGeom prst="roundRect">
            <a:avLst>
              <a:gd name="adj" fmla="val 3158"/>
            </a:avLst>
          </a:prstGeom>
          <a:solidFill>
            <a:srgbClr val="F4F7F8"/>
          </a:solidFill>
          <a:ln w="12700">
            <a:solidFill>
              <a:srgbClr val="F4F7F8"/>
            </a:solidFill>
            <a:prstDash val="solid"/>
          </a:ln>
        </p:spPr>
      </p:sp>
      <p:sp>
        <p:nvSpPr>
          <p:cNvPr id="10" name="Text 8"/>
          <p:cNvSpPr/>
          <p:nvPr/>
        </p:nvSpPr>
        <p:spPr>
          <a:xfrm>
            <a:off x="4526280" y="2212848"/>
            <a:ext cx="2788920" cy="36576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Quitar trimestres</a:t>
            </a:r>
            <a:endParaRPr lang="en-US" sz="1600" dirty="0"/>
          </a:p>
        </p:txBody>
      </p:sp>
      <p:sp>
        <p:nvSpPr>
          <p:cNvPr id="11" name="Text 9"/>
          <p:cNvSpPr/>
          <p:nvPr/>
        </p:nvSpPr>
        <p:spPr>
          <a:xfrm>
            <a:off x="4526280" y="2651760"/>
            <a:ext cx="2788920" cy="868680"/>
          </a:xfrm>
          <a:prstGeom prst="rect">
            <a:avLst/>
          </a:prstGeom>
          <a:noFill/>
          <a:ln/>
        </p:spPr>
        <p:txBody>
          <a:bodyPr wrap="square" lIns="0" tIns="0" rIns="0" bIns="0" rtlCol="0" anchor="ctr"/>
          <a:lstStyle/>
          <a:p>
            <a:pPr indent="0" marL="0">
              <a:buNone/>
            </a:pPr>
            <a:r>
              <a:rPr lang="en-US" sz="1250" dirty="0">
                <a:solidFill>
                  <a:srgbClr val="5A6B75"/>
                </a:solidFill>
                <a:latin typeface="Calibri" pitchFamily="34" charset="0"/>
                <a:ea typeface="Calibri" pitchFamily="34" charset="-122"/>
                <a:cs typeface="Calibri" pitchFamily="34" charset="-120"/>
              </a:rPr>
              <a:t>Se repitió el cálculo excluyendo cada trimestre, uno por uno.</a:t>
            </a:r>
            <a:endParaRPr lang="en-US" sz="1250" dirty="0"/>
          </a:p>
        </p:txBody>
      </p:sp>
      <p:sp>
        <p:nvSpPr>
          <p:cNvPr id="12" name="Shape 10"/>
          <p:cNvSpPr/>
          <p:nvPr/>
        </p:nvSpPr>
        <p:spPr>
          <a:xfrm>
            <a:off x="4526280" y="3611880"/>
            <a:ext cx="2788920" cy="713232"/>
          </a:xfrm>
          <a:prstGeom prst="roundRect">
            <a:avLst>
              <a:gd name="adj" fmla="val 7692"/>
            </a:avLst>
          </a:prstGeom>
          <a:solidFill>
            <a:srgbClr val="E8F2F5"/>
          </a:solidFill>
          <a:ln w="12700">
            <a:solidFill>
              <a:srgbClr val="333333"/>
            </a:solidFill>
            <a:prstDash val="solid"/>
          </a:ln>
        </p:spPr>
      </p:sp>
      <p:sp>
        <p:nvSpPr>
          <p:cNvPr id="13" name="Text 11"/>
          <p:cNvSpPr/>
          <p:nvPr/>
        </p:nvSpPr>
        <p:spPr>
          <a:xfrm>
            <a:off x="4636008" y="3703320"/>
            <a:ext cx="2606040" cy="548640"/>
          </a:xfrm>
          <a:prstGeom prst="rect">
            <a:avLst/>
          </a:prstGeom>
          <a:noFill/>
          <a:ln/>
        </p:spPr>
        <p:txBody>
          <a:bodyPr wrap="square" lIns="0" tIns="0" rIns="0" bIns="0" rtlCol="0" anchor="ctr"/>
          <a:lstStyle/>
          <a:p>
            <a:pPr indent="0" marL="0">
              <a:buNone/>
            </a:pPr>
            <a:r>
              <a:rPr lang="en-US" sz="1200" b="1" dirty="0">
                <a:solidFill>
                  <a:srgbClr val="2E8AA8"/>
                </a:solidFill>
                <a:latin typeface="Calibri" pitchFamily="34" charset="0"/>
                <a:ea typeface="Calibri" pitchFamily="34" charset="-122"/>
                <a:cs typeface="Calibri" pitchFamily="34" charset="-120"/>
              </a:rPr>
              <a:t>Ninguno lo sostiene solo</a:t>
            </a:r>
            <a:endParaRPr lang="en-US" sz="1200" dirty="0"/>
          </a:p>
        </p:txBody>
      </p:sp>
      <p:sp>
        <p:nvSpPr>
          <p:cNvPr id="14" name="Shape 12"/>
          <p:cNvSpPr/>
          <p:nvPr/>
        </p:nvSpPr>
        <p:spPr>
          <a:xfrm>
            <a:off x="7863840" y="1965960"/>
            <a:ext cx="3291840" cy="2606040"/>
          </a:xfrm>
          <a:prstGeom prst="roundRect">
            <a:avLst>
              <a:gd name="adj" fmla="val 3158"/>
            </a:avLst>
          </a:prstGeom>
          <a:solidFill>
            <a:srgbClr val="F4F7F8"/>
          </a:solidFill>
          <a:ln w="12700">
            <a:solidFill>
              <a:srgbClr val="F4F7F8"/>
            </a:solidFill>
            <a:prstDash val="solid"/>
          </a:ln>
        </p:spPr>
      </p:sp>
      <p:sp>
        <p:nvSpPr>
          <p:cNvPr id="15" name="Text 13"/>
          <p:cNvSpPr/>
          <p:nvPr/>
        </p:nvSpPr>
        <p:spPr>
          <a:xfrm>
            <a:off x="8138160" y="2212848"/>
            <a:ext cx="2788920" cy="365760"/>
          </a:xfrm>
          <a:prstGeom prst="rect">
            <a:avLst/>
          </a:prstGeom>
          <a:noFill/>
          <a:ln/>
        </p:spPr>
        <p:txBody>
          <a:bodyPr wrap="square" lIns="0" tIns="0" rIns="0" bIns="0" rtlCol="0" anchor="ctr"/>
          <a:lstStyle/>
          <a:p>
            <a:pPr indent="0" marL="0">
              <a:buNone/>
            </a:pPr>
            <a:r>
              <a:rPr lang="en-US" sz="1600" b="1" dirty="0">
                <a:solidFill>
                  <a:srgbClr val="1A2A33"/>
                </a:solidFill>
                <a:latin typeface="Calibri" pitchFamily="34" charset="0"/>
                <a:ea typeface="Calibri" pitchFamily="34" charset="-122"/>
                <a:cs typeface="Calibri" pitchFamily="34" charset="-120"/>
              </a:rPr>
              <a:t>Partir la historia</a:t>
            </a:r>
            <a:endParaRPr lang="en-US" sz="1600" dirty="0"/>
          </a:p>
        </p:txBody>
      </p:sp>
      <p:sp>
        <p:nvSpPr>
          <p:cNvPr id="16" name="Text 14"/>
          <p:cNvSpPr/>
          <p:nvPr/>
        </p:nvSpPr>
        <p:spPr>
          <a:xfrm>
            <a:off x="8138160" y="2651760"/>
            <a:ext cx="2788920" cy="868680"/>
          </a:xfrm>
          <a:prstGeom prst="rect">
            <a:avLst/>
          </a:prstGeom>
          <a:noFill/>
          <a:ln/>
        </p:spPr>
        <p:txBody>
          <a:bodyPr wrap="square" lIns="0" tIns="0" rIns="0" bIns="0" rtlCol="0" anchor="ctr"/>
          <a:lstStyle/>
          <a:p>
            <a:pPr indent="0" marL="0">
              <a:buNone/>
            </a:pPr>
            <a:r>
              <a:rPr lang="en-US" sz="1250" dirty="0">
                <a:solidFill>
                  <a:srgbClr val="5A6B75"/>
                </a:solidFill>
                <a:latin typeface="Calibri" pitchFamily="34" charset="0"/>
                <a:ea typeface="Calibri" pitchFamily="34" charset="-122"/>
                <a:cs typeface="Calibri" pitchFamily="34" charset="-120"/>
              </a:rPr>
              <a:t>Se midió por separado en cuatro períodos entre 2014 y 2025.</a:t>
            </a:r>
            <a:endParaRPr lang="en-US" sz="1250" dirty="0"/>
          </a:p>
        </p:txBody>
      </p:sp>
      <p:sp>
        <p:nvSpPr>
          <p:cNvPr id="17" name="Shape 15"/>
          <p:cNvSpPr/>
          <p:nvPr/>
        </p:nvSpPr>
        <p:spPr>
          <a:xfrm>
            <a:off x="8138160" y="3611880"/>
            <a:ext cx="2788920" cy="713232"/>
          </a:xfrm>
          <a:prstGeom prst="roundRect">
            <a:avLst>
              <a:gd name="adj" fmla="val 7692"/>
            </a:avLst>
          </a:prstGeom>
          <a:solidFill>
            <a:srgbClr val="E8F2F5"/>
          </a:solidFill>
          <a:ln w="12700">
            <a:solidFill>
              <a:srgbClr val="333333"/>
            </a:solidFill>
            <a:prstDash val="solid"/>
          </a:ln>
        </p:spPr>
      </p:sp>
      <p:sp>
        <p:nvSpPr>
          <p:cNvPr id="18" name="Text 16"/>
          <p:cNvSpPr/>
          <p:nvPr/>
        </p:nvSpPr>
        <p:spPr>
          <a:xfrm>
            <a:off x="8247888" y="3703320"/>
            <a:ext cx="2606040" cy="548640"/>
          </a:xfrm>
          <a:prstGeom prst="rect">
            <a:avLst/>
          </a:prstGeom>
          <a:noFill/>
          <a:ln/>
        </p:spPr>
        <p:txBody>
          <a:bodyPr wrap="square" lIns="0" tIns="0" rIns="0" bIns="0" rtlCol="0" anchor="ctr"/>
          <a:lstStyle/>
          <a:p>
            <a:pPr indent="0" marL="0">
              <a:buNone/>
            </a:pPr>
            <a:r>
              <a:rPr lang="en-US" sz="1200" b="1" dirty="0">
                <a:solidFill>
                  <a:srgbClr val="2E8AA8"/>
                </a:solidFill>
                <a:latin typeface="Calibri" pitchFamily="34" charset="0"/>
                <a:ea typeface="Calibri" pitchFamily="34" charset="-122"/>
                <a:cs typeface="Calibri" pitchFamily="34" charset="-120"/>
              </a:rPr>
              <a:t>Gana en los cuatro períodos</a:t>
            </a:r>
            <a:endParaRPr lang="en-US" sz="1200" dirty="0"/>
          </a:p>
        </p:txBody>
      </p:sp>
      <p:sp>
        <p:nvSpPr>
          <p:cNvPr id="19" name="Shape 17"/>
          <p:cNvSpPr/>
          <p:nvPr/>
        </p:nvSpPr>
        <p:spPr>
          <a:xfrm>
            <a:off x="640080" y="4892040"/>
            <a:ext cx="10881360" cy="1234440"/>
          </a:xfrm>
          <a:prstGeom prst="roundRect">
            <a:avLst>
              <a:gd name="adj" fmla="val 6667"/>
            </a:avLst>
          </a:prstGeom>
          <a:solidFill>
            <a:srgbClr val="FBF0E4"/>
          </a:solidFill>
          <a:ln w="12700">
            <a:solidFill>
              <a:srgbClr val="FBF0E4"/>
            </a:solidFill>
            <a:prstDash val="solid"/>
          </a:ln>
        </p:spPr>
      </p:sp>
      <p:sp>
        <p:nvSpPr>
          <p:cNvPr id="20" name="Text 18"/>
          <p:cNvSpPr/>
          <p:nvPr/>
        </p:nvSpPr>
        <p:spPr>
          <a:xfrm>
            <a:off x="960120" y="5029200"/>
            <a:ext cx="4572000" cy="320040"/>
          </a:xfrm>
          <a:prstGeom prst="rect">
            <a:avLst/>
          </a:prstGeom>
          <a:noFill/>
          <a:ln/>
        </p:spPr>
        <p:txBody>
          <a:bodyPr wrap="square" lIns="0" tIns="0" rIns="0" bIns="0" rtlCol="0" anchor="ctr"/>
          <a:lstStyle/>
          <a:p>
            <a:pPr indent="0" marL="0">
              <a:buNone/>
            </a:pPr>
            <a:r>
              <a:rPr lang="en-US" sz="1400" b="1" dirty="0">
                <a:solidFill>
                  <a:srgbClr val="A9741F"/>
                </a:solidFill>
                <a:latin typeface="Calibri" pitchFamily="34" charset="0"/>
                <a:ea typeface="Calibri" pitchFamily="34" charset="-122"/>
                <a:cs typeface="Calibri" pitchFamily="34" charset="-120"/>
              </a:rPr>
              <a:t>Lo que estamos vigilando</a:t>
            </a:r>
            <a:endParaRPr lang="en-US" sz="1400" dirty="0"/>
          </a:p>
        </p:txBody>
      </p:sp>
      <p:sp>
        <p:nvSpPr>
          <p:cNvPr id="21" name="Text 19"/>
          <p:cNvSpPr/>
          <p:nvPr/>
        </p:nvSpPr>
        <p:spPr>
          <a:xfrm>
            <a:off x="960120" y="5376672"/>
            <a:ext cx="10241280" cy="640080"/>
          </a:xfrm>
          <a:prstGeom prst="rect">
            <a:avLst/>
          </a:prstGeom>
          <a:noFill/>
          <a:ln/>
        </p:spPr>
        <p:txBody>
          <a:bodyPr wrap="square" lIns="0" tIns="0" rIns="0" bIns="0" rtlCol="0" anchor="ctr"/>
          <a:lstStyle/>
          <a:p>
            <a:pPr indent="0" marL="0">
              <a:buNone/>
            </a:pPr>
            <a:r>
              <a:rPr lang="en-US" sz="1300" dirty="0">
                <a:solidFill>
                  <a:srgbClr val="6B5433"/>
                </a:solidFill>
                <a:latin typeface="Calibri" pitchFamily="34" charset="0"/>
                <a:ea typeface="Calibri" pitchFamily="34" charset="-122"/>
                <a:cs typeface="Calibri" pitchFamily="34" charset="-120"/>
              </a:rPr>
              <a:t>En 2024-2025 la ventaja sobre el método simple se achicó. Puede deberse a que fue un período más tranquilo, o ser una señal temprana de desgaste. Lo monitoreamos trimestre a trimestre.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13232"/>
          </a:xfrm>
          <a:prstGeom prst="rect">
            <a:avLst/>
          </a:prstGeom>
          <a:noFill/>
          <a:ln/>
        </p:spPr>
        <p:txBody>
          <a:bodyPr wrap="square" lIns="0" tIns="0" rIns="0" bIns="0" rtlCol="0" anchor="ctr"/>
          <a:lstStyle/>
          <a:p>
            <a:pPr indent="0" marL="0">
              <a:buNone/>
            </a:pPr>
            <a:r>
              <a:rPr lang="en-US" sz="3000" b="1" dirty="0">
                <a:solidFill>
                  <a:srgbClr val="1A2A33"/>
                </a:solidFill>
                <a:latin typeface="Calibri" pitchFamily="34" charset="0"/>
                <a:ea typeface="Calibri" pitchFamily="34" charset="-122"/>
                <a:cs typeface="Calibri" pitchFamily="34" charset="-120"/>
              </a:rPr>
              <a:t>Qué está diciendo hoy el modelo</a:t>
            </a:r>
            <a:endParaRPr lang="en-US" sz="30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500" dirty="0">
                <a:solidFill>
                  <a:srgbClr val="5A6B75"/>
                </a:solidFill>
                <a:latin typeface="Calibri" pitchFamily="34" charset="0"/>
                <a:ea typeface="Calibri" pitchFamily="34" charset="-122"/>
                <a:cs typeface="Calibri" pitchFamily="34" charset="-120"/>
              </a:rPr>
              <a:t>Lectura vigente para los trimestres en curso</a:t>
            </a:r>
            <a:endParaRPr lang="en-US" sz="1500" dirty="0"/>
          </a:p>
        </p:txBody>
      </p:sp>
      <p:sp>
        <p:nvSpPr>
          <p:cNvPr id="4" name="Shape 2"/>
          <p:cNvSpPr/>
          <p:nvPr/>
        </p:nvSpPr>
        <p:spPr>
          <a:xfrm>
            <a:off x="640080" y="1965960"/>
            <a:ext cx="5120640" cy="2286000"/>
          </a:xfrm>
          <a:prstGeom prst="roundRect">
            <a:avLst>
              <a:gd name="adj" fmla="val 3600"/>
            </a:avLst>
          </a:prstGeom>
          <a:solidFill>
            <a:srgbClr val="EAF3EE"/>
          </a:solidFill>
          <a:ln w="12700">
            <a:solidFill>
              <a:srgbClr val="EAF3EE"/>
            </a:solidFill>
            <a:prstDash val="solid"/>
          </a:ln>
        </p:spPr>
      </p:sp>
      <p:sp>
        <p:nvSpPr>
          <p:cNvPr id="5" name="Text 3"/>
          <p:cNvSpPr/>
          <p:nvPr/>
        </p:nvSpPr>
        <p:spPr>
          <a:xfrm>
            <a:off x="1005840" y="2194560"/>
            <a:ext cx="4389120" cy="320040"/>
          </a:xfrm>
          <a:prstGeom prst="rect">
            <a:avLst/>
          </a:prstGeom>
          <a:noFill/>
          <a:ln/>
        </p:spPr>
        <p:txBody>
          <a:bodyPr wrap="square" lIns="0" tIns="0" rIns="0" bIns="0" rtlCol="0" anchor="ctr"/>
          <a:lstStyle/>
          <a:p>
            <a:pPr indent="0" marL="0">
              <a:buNone/>
            </a:pPr>
            <a:r>
              <a:rPr lang="en-US" sz="1300" b="1" spc="80" kern="0" dirty="0">
                <a:solidFill>
                  <a:srgbClr val="5A6B75"/>
                </a:solidFill>
                <a:latin typeface="Calibri" pitchFamily="34" charset="0"/>
                <a:ea typeface="Calibri" pitchFamily="34" charset="-122"/>
                <a:cs typeface="Calibri" pitchFamily="34" charset="-120"/>
              </a:rPr>
              <a:t>1er trimestre 2026</a:t>
            </a:r>
            <a:endParaRPr lang="en-US" sz="1300" dirty="0"/>
          </a:p>
        </p:txBody>
      </p:sp>
      <p:sp>
        <p:nvSpPr>
          <p:cNvPr id="6" name="Text 4"/>
          <p:cNvSpPr/>
          <p:nvPr/>
        </p:nvSpPr>
        <p:spPr>
          <a:xfrm>
            <a:off x="1005840" y="2560320"/>
            <a:ext cx="2743200" cy="777240"/>
          </a:xfrm>
          <a:prstGeom prst="rect">
            <a:avLst/>
          </a:prstGeom>
          <a:noFill/>
          <a:ln/>
        </p:spPr>
        <p:txBody>
          <a:bodyPr wrap="square" lIns="0" tIns="0" rIns="0" bIns="0" rtlCol="0" anchor="ctr"/>
          <a:lstStyle/>
          <a:p>
            <a:pPr indent="0" marL="0">
              <a:buNone/>
            </a:pPr>
            <a:r>
              <a:rPr lang="en-US" sz="4400" b="1" dirty="0">
                <a:solidFill>
                  <a:srgbClr val="2E7D5B"/>
                </a:solidFill>
                <a:latin typeface="Calibri" pitchFamily="34" charset="0"/>
                <a:ea typeface="Calibri" pitchFamily="34" charset="-122"/>
                <a:cs typeface="Calibri" pitchFamily="34" charset="-120"/>
              </a:rPr>
              <a:t>+0,6%</a:t>
            </a:r>
            <a:endParaRPr lang="en-US" sz="4400" dirty="0"/>
          </a:p>
        </p:txBody>
      </p:sp>
      <p:sp>
        <p:nvSpPr>
          <p:cNvPr id="7" name="Text 5"/>
          <p:cNvSpPr/>
          <p:nvPr/>
        </p:nvSpPr>
        <p:spPr>
          <a:xfrm>
            <a:off x="3749040" y="2834640"/>
            <a:ext cx="1828800" cy="365760"/>
          </a:xfrm>
          <a:prstGeom prst="rect">
            <a:avLst/>
          </a:prstGeom>
          <a:noFill/>
          <a:ln/>
        </p:spPr>
        <p:txBody>
          <a:bodyPr wrap="square" lIns="0" tIns="0" rIns="0" bIns="0" rtlCol="0" anchor="ctr"/>
          <a:lstStyle/>
          <a:p>
            <a:pPr algn="r" indent="0" marL="0">
              <a:buNone/>
            </a:pPr>
            <a:r>
              <a:rPr lang="en-US" sz="1500" b="1" dirty="0">
                <a:solidFill>
                  <a:srgbClr val="2E7D5B"/>
                </a:solidFill>
                <a:latin typeface="Calibri" pitchFamily="34" charset="0"/>
                <a:ea typeface="Calibri" pitchFamily="34" charset="-122"/>
                <a:cs typeface="Calibri" pitchFamily="34" charset="-120"/>
              </a:rPr>
              <a:t>EXPANSIÓN</a:t>
            </a:r>
            <a:endParaRPr lang="en-US" sz="1500" dirty="0"/>
          </a:p>
        </p:txBody>
      </p:sp>
      <p:sp>
        <p:nvSpPr>
          <p:cNvPr id="8" name="Text 6"/>
          <p:cNvSpPr/>
          <p:nvPr/>
        </p:nvSpPr>
        <p:spPr>
          <a:xfrm>
            <a:off x="1005840" y="3520440"/>
            <a:ext cx="4572000" cy="45720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Probabilidad de expansión: 67%   ·   estimación con el trimestre completo</a:t>
            </a:r>
            <a:endParaRPr lang="en-US" sz="1200" dirty="0"/>
          </a:p>
        </p:txBody>
      </p:sp>
      <p:sp>
        <p:nvSpPr>
          <p:cNvPr id="9" name="Shape 7"/>
          <p:cNvSpPr/>
          <p:nvPr/>
        </p:nvSpPr>
        <p:spPr>
          <a:xfrm>
            <a:off x="6400800" y="1965960"/>
            <a:ext cx="5120640" cy="2286000"/>
          </a:xfrm>
          <a:prstGeom prst="roundRect">
            <a:avLst>
              <a:gd name="adj" fmla="val 3600"/>
            </a:avLst>
          </a:prstGeom>
          <a:solidFill>
            <a:srgbClr val="F4F7F8"/>
          </a:solidFill>
          <a:ln w="12700">
            <a:solidFill>
              <a:srgbClr val="F4F7F8"/>
            </a:solidFill>
            <a:prstDash val="solid"/>
          </a:ln>
        </p:spPr>
      </p:sp>
      <p:sp>
        <p:nvSpPr>
          <p:cNvPr id="10" name="Text 8"/>
          <p:cNvSpPr/>
          <p:nvPr/>
        </p:nvSpPr>
        <p:spPr>
          <a:xfrm>
            <a:off x="6766560" y="2194560"/>
            <a:ext cx="4389120" cy="320040"/>
          </a:xfrm>
          <a:prstGeom prst="rect">
            <a:avLst/>
          </a:prstGeom>
          <a:noFill/>
          <a:ln/>
        </p:spPr>
        <p:txBody>
          <a:bodyPr wrap="square" lIns="0" tIns="0" rIns="0" bIns="0" rtlCol="0" anchor="ctr"/>
          <a:lstStyle/>
          <a:p>
            <a:pPr indent="0" marL="0">
              <a:buNone/>
            </a:pPr>
            <a:r>
              <a:rPr lang="en-US" sz="1300" b="1" spc="80" kern="0" dirty="0">
                <a:solidFill>
                  <a:srgbClr val="5A6B75"/>
                </a:solidFill>
                <a:latin typeface="Calibri" pitchFamily="34" charset="0"/>
                <a:ea typeface="Calibri" pitchFamily="34" charset="-122"/>
                <a:cs typeface="Calibri" pitchFamily="34" charset="-120"/>
              </a:rPr>
              <a:t>2do trimestre 2026</a:t>
            </a:r>
            <a:endParaRPr lang="en-US" sz="1300" dirty="0"/>
          </a:p>
        </p:txBody>
      </p:sp>
      <p:sp>
        <p:nvSpPr>
          <p:cNvPr id="11" name="Text 9"/>
          <p:cNvSpPr/>
          <p:nvPr/>
        </p:nvSpPr>
        <p:spPr>
          <a:xfrm>
            <a:off x="6766560" y="2560320"/>
            <a:ext cx="2743200" cy="777240"/>
          </a:xfrm>
          <a:prstGeom prst="rect">
            <a:avLst/>
          </a:prstGeom>
          <a:noFill/>
          <a:ln/>
        </p:spPr>
        <p:txBody>
          <a:bodyPr wrap="square" lIns="0" tIns="0" rIns="0" bIns="0" rtlCol="0" anchor="ctr"/>
          <a:lstStyle/>
          <a:p>
            <a:pPr indent="0" marL="0">
              <a:buNone/>
            </a:pPr>
            <a:r>
              <a:rPr lang="en-US" sz="4400" b="1" dirty="0">
                <a:solidFill>
                  <a:srgbClr val="5A6B75"/>
                </a:solidFill>
                <a:latin typeface="Calibri" pitchFamily="34" charset="0"/>
                <a:ea typeface="Calibri" pitchFamily="34" charset="-122"/>
                <a:cs typeface="Calibri" pitchFamily="34" charset="-120"/>
              </a:rPr>
              <a:t>−0,1%</a:t>
            </a:r>
            <a:endParaRPr lang="en-US" sz="4400" dirty="0"/>
          </a:p>
        </p:txBody>
      </p:sp>
      <p:sp>
        <p:nvSpPr>
          <p:cNvPr id="12" name="Text 10"/>
          <p:cNvSpPr/>
          <p:nvPr/>
        </p:nvSpPr>
        <p:spPr>
          <a:xfrm>
            <a:off x="9509760" y="2834640"/>
            <a:ext cx="1828800" cy="365760"/>
          </a:xfrm>
          <a:prstGeom prst="rect">
            <a:avLst/>
          </a:prstGeom>
          <a:noFill/>
          <a:ln/>
        </p:spPr>
        <p:txBody>
          <a:bodyPr wrap="square" lIns="0" tIns="0" rIns="0" bIns="0" rtlCol="0" anchor="ctr"/>
          <a:lstStyle/>
          <a:p>
            <a:pPr algn="r" indent="0" marL="0">
              <a:buNone/>
            </a:pPr>
            <a:r>
              <a:rPr lang="en-US" sz="1500" b="1" dirty="0">
                <a:solidFill>
                  <a:srgbClr val="5A6B75"/>
                </a:solidFill>
                <a:latin typeface="Calibri" pitchFamily="34" charset="0"/>
                <a:ea typeface="Calibri" pitchFamily="34" charset="-122"/>
                <a:cs typeface="Calibri" pitchFamily="34" charset="-120"/>
              </a:rPr>
              <a:t>AMESETADO</a:t>
            </a:r>
            <a:endParaRPr lang="en-US" sz="1500" dirty="0"/>
          </a:p>
        </p:txBody>
      </p:sp>
      <p:sp>
        <p:nvSpPr>
          <p:cNvPr id="13" name="Text 11"/>
          <p:cNvSpPr/>
          <p:nvPr/>
        </p:nvSpPr>
        <p:spPr>
          <a:xfrm>
            <a:off x="6766560" y="3520440"/>
            <a:ext cx="4572000" cy="457200"/>
          </a:xfrm>
          <a:prstGeom prst="rect">
            <a:avLst/>
          </a:prstGeom>
          <a:noFill/>
          <a:ln/>
        </p:spPr>
        <p:txBody>
          <a:bodyPr wrap="square" lIns="0" tIns="0" rIns="0" bIns="0" rtlCol="0" anchor="ctr"/>
          <a:lstStyle/>
          <a:p>
            <a:pPr indent="0" marL="0">
              <a:buNone/>
            </a:pPr>
            <a:r>
              <a:rPr lang="en-US" sz="1200" dirty="0">
                <a:solidFill>
                  <a:srgbClr val="5A6B75"/>
                </a:solidFill>
                <a:latin typeface="Calibri" pitchFamily="34" charset="0"/>
                <a:ea typeface="Calibri" pitchFamily="34" charset="-122"/>
                <a:cs typeface="Calibri" pitchFamily="34" charset="-120"/>
              </a:rPr>
              <a:t>Probabilidad de expansión: 48%   ·   estimación con dos meses de datos</a:t>
            </a:r>
            <a:endParaRPr lang="en-US" sz="1200" dirty="0"/>
          </a:p>
        </p:txBody>
      </p:sp>
      <p:sp>
        <p:nvSpPr>
          <p:cNvPr id="14" name="Shape 12"/>
          <p:cNvSpPr/>
          <p:nvPr/>
        </p:nvSpPr>
        <p:spPr>
          <a:xfrm>
            <a:off x="640080" y="4526280"/>
            <a:ext cx="10881360" cy="1600200"/>
          </a:xfrm>
          <a:prstGeom prst="roundRect">
            <a:avLst>
              <a:gd name="adj" fmla="val 5143"/>
            </a:avLst>
          </a:prstGeom>
          <a:solidFill>
            <a:srgbClr val="0D3B4F"/>
          </a:solidFill>
          <a:ln w="12700">
            <a:solidFill>
              <a:srgbClr val="0D3B4F"/>
            </a:solidFill>
            <a:prstDash val="solid"/>
          </a:ln>
        </p:spPr>
      </p:sp>
      <p:sp>
        <p:nvSpPr>
          <p:cNvPr id="15" name="Text 13"/>
          <p:cNvSpPr/>
          <p:nvPr/>
        </p:nvSpPr>
        <p:spPr>
          <a:xfrm>
            <a:off x="1005840" y="4709160"/>
            <a:ext cx="4572000" cy="320040"/>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Lectura de conjunto</a:t>
            </a:r>
            <a:endParaRPr lang="en-US" sz="1500" dirty="0"/>
          </a:p>
        </p:txBody>
      </p:sp>
      <p:sp>
        <p:nvSpPr>
          <p:cNvPr id="16" name="Text 14"/>
          <p:cNvSpPr/>
          <p:nvPr/>
        </p:nvSpPr>
        <p:spPr>
          <a:xfrm>
            <a:off x="1005840" y="5074920"/>
            <a:ext cx="10149840" cy="8229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El primer trimestre muestra expansión moderada; el segundo pierde impulso y se ubica en terreno neutro. La señal es de desaceleración, no de contracción.</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3B4F"/>
        </a:solidFill>
      </p:bgPr>
    </p:bg>
    <p:spTree>
      <p:nvGrpSpPr>
        <p:cNvPr id="1" name=""/>
        <p:cNvGrpSpPr/>
        <p:nvPr/>
      </p:nvGrpSpPr>
      <p:grpSpPr>
        <a:xfrm>
          <a:off x="0" y="0"/>
          <a:ext cx="0" cy="0"/>
          <a:chOff x="0" y="0"/>
          <a:chExt cx="0" cy="0"/>
        </a:xfrm>
      </p:grpSpPr>
      <p:sp>
        <p:nvSpPr>
          <p:cNvPr id="2" name="Shape 0"/>
          <p:cNvSpPr/>
          <p:nvPr/>
        </p:nvSpPr>
        <p:spPr>
          <a:xfrm>
            <a:off x="9966960" y="-1097280"/>
            <a:ext cx="4023360" cy="4023360"/>
          </a:xfrm>
          <a:prstGeom prst="ellipse">
            <a:avLst/>
          </a:prstGeom>
          <a:solidFill>
            <a:srgbClr val="2E8AA8"/>
          </a:solidFill>
          <a:ln w="12700">
            <a:solidFill>
              <a:srgbClr val="333333"/>
            </a:solidFill>
            <a:prstDash val="solid"/>
          </a:ln>
        </p:spPr>
      </p:sp>
      <p:sp>
        <p:nvSpPr>
          <p:cNvPr id="3" name="Text 1"/>
          <p:cNvSpPr/>
          <p:nvPr/>
        </p:nvSpPr>
        <p:spPr>
          <a:xfrm>
            <a:off x="640080" y="685800"/>
            <a:ext cx="8686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Cómo proponemos usarlo</a:t>
            </a:r>
            <a:endParaRPr lang="en-US" sz="3200" dirty="0"/>
          </a:p>
        </p:txBody>
      </p:sp>
      <p:sp>
        <p:nvSpPr>
          <p:cNvPr id="4" name="Shape 2"/>
          <p:cNvSpPr/>
          <p:nvPr/>
        </p:nvSpPr>
        <p:spPr>
          <a:xfrm>
            <a:off x="640080" y="1691640"/>
            <a:ext cx="457200" cy="457200"/>
          </a:xfrm>
          <a:prstGeom prst="ellipse">
            <a:avLst/>
          </a:prstGeom>
          <a:solidFill>
            <a:srgbClr val="E8A33D"/>
          </a:solidFill>
          <a:ln w="12700">
            <a:solidFill>
              <a:srgbClr val="E8A33D"/>
            </a:solidFill>
            <a:prstDash val="solid"/>
          </a:ln>
        </p:spPr>
      </p:sp>
      <p:sp>
        <p:nvSpPr>
          <p:cNvPr id="5" name="Text 3"/>
          <p:cNvSpPr/>
          <p:nvPr/>
        </p:nvSpPr>
        <p:spPr>
          <a:xfrm>
            <a:off x="640080" y="1691640"/>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25880" y="1664208"/>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Como termómetro del ciclo</a:t>
            </a:r>
            <a:endParaRPr lang="en-US" sz="1800" dirty="0"/>
          </a:p>
        </p:txBody>
      </p:sp>
      <p:sp>
        <p:nvSpPr>
          <p:cNvPr id="7" name="Text 5"/>
          <p:cNvSpPr/>
          <p:nvPr/>
        </p:nvSpPr>
        <p:spPr>
          <a:xfrm>
            <a:off x="1325880" y="2020824"/>
            <a:ext cx="9692640" cy="658368"/>
          </a:xfrm>
          <a:prstGeom prst="rect">
            <a:avLst/>
          </a:prstGeom>
          <a:noFill/>
          <a:ln/>
        </p:spPr>
        <p:txBody>
          <a:bodyPr wrap="square" lIns="0" tIns="0" rIns="0" bIns="0" rtlCol="0" anchor="ctr"/>
          <a:lstStyle/>
          <a:p>
            <a:pPr indent="0" marL="0">
              <a:buNone/>
            </a:pPr>
            <a:r>
              <a:rPr lang="en-US" sz="1350" dirty="0">
                <a:solidFill>
                  <a:srgbClr val="A8C6D2"/>
                </a:solidFill>
                <a:latin typeface="Calibri" pitchFamily="34" charset="0"/>
                <a:ea typeface="Calibri" pitchFamily="34" charset="-122"/>
                <a:cs typeface="Calibri" pitchFamily="34" charset="-120"/>
              </a:rPr>
              <a:t>Insumo mensual de monitoreo, no cifra de referencia. Se reporta la dirección y su probabilidad, no un número exacto.</a:t>
            </a:r>
            <a:endParaRPr lang="en-US" sz="1350" dirty="0"/>
          </a:p>
        </p:txBody>
      </p:sp>
      <p:sp>
        <p:nvSpPr>
          <p:cNvPr id="8" name="Shape 6"/>
          <p:cNvSpPr/>
          <p:nvPr/>
        </p:nvSpPr>
        <p:spPr>
          <a:xfrm>
            <a:off x="640080" y="2898648"/>
            <a:ext cx="457200" cy="457200"/>
          </a:xfrm>
          <a:prstGeom prst="ellipse">
            <a:avLst/>
          </a:prstGeom>
          <a:solidFill>
            <a:srgbClr val="E8A33D"/>
          </a:solidFill>
          <a:ln w="12700">
            <a:solidFill>
              <a:srgbClr val="E8A33D"/>
            </a:solidFill>
            <a:prstDash val="solid"/>
          </a:ln>
        </p:spPr>
      </p:sp>
      <p:sp>
        <p:nvSpPr>
          <p:cNvPr id="9" name="Text 7"/>
          <p:cNvSpPr/>
          <p:nvPr/>
        </p:nvSpPr>
        <p:spPr>
          <a:xfrm>
            <a:off x="640080" y="2898648"/>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325880" y="2871216"/>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 criterio humano</a:t>
            </a:r>
            <a:endParaRPr lang="en-US" sz="1800" dirty="0"/>
          </a:p>
        </p:txBody>
      </p:sp>
      <p:sp>
        <p:nvSpPr>
          <p:cNvPr id="11" name="Text 9"/>
          <p:cNvSpPr/>
          <p:nvPr/>
        </p:nvSpPr>
        <p:spPr>
          <a:xfrm>
            <a:off x="1325880" y="3227832"/>
            <a:ext cx="9692640" cy="658368"/>
          </a:xfrm>
          <a:prstGeom prst="rect">
            <a:avLst/>
          </a:prstGeom>
          <a:noFill/>
          <a:ln/>
        </p:spPr>
        <p:txBody>
          <a:bodyPr wrap="square" lIns="0" tIns="0" rIns="0" bIns="0" rtlCol="0" anchor="ctr"/>
          <a:lstStyle/>
          <a:p>
            <a:pPr indent="0" marL="0">
              <a:buNone/>
            </a:pPr>
            <a:r>
              <a:rPr lang="en-US" sz="1350" dirty="0">
                <a:solidFill>
                  <a:srgbClr val="A8C6D2"/>
                </a:solidFill>
                <a:latin typeface="Calibri" pitchFamily="34" charset="0"/>
                <a:ea typeface="Calibri" pitchFamily="34" charset="-122"/>
                <a:cs typeface="Calibri" pitchFamily="34" charset="-120"/>
              </a:rPr>
              <a:t>Alimenta la discusión de exposición y cobertura; no dispara operaciones de forma automática.</a:t>
            </a:r>
            <a:endParaRPr lang="en-US" sz="1350" dirty="0"/>
          </a:p>
        </p:txBody>
      </p:sp>
      <p:sp>
        <p:nvSpPr>
          <p:cNvPr id="12" name="Shape 10"/>
          <p:cNvSpPr/>
          <p:nvPr/>
        </p:nvSpPr>
        <p:spPr>
          <a:xfrm>
            <a:off x="640080" y="4105656"/>
            <a:ext cx="457200" cy="457200"/>
          </a:xfrm>
          <a:prstGeom prst="ellipse">
            <a:avLst/>
          </a:prstGeom>
          <a:solidFill>
            <a:srgbClr val="E8A33D"/>
          </a:solidFill>
          <a:ln w="12700">
            <a:solidFill>
              <a:srgbClr val="E8A33D"/>
            </a:solidFill>
            <a:prstDash val="solid"/>
          </a:ln>
        </p:spPr>
      </p:sp>
      <p:sp>
        <p:nvSpPr>
          <p:cNvPr id="13" name="Text 11"/>
          <p:cNvSpPr/>
          <p:nvPr/>
        </p:nvSpPr>
        <p:spPr>
          <a:xfrm>
            <a:off x="640080" y="4105656"/>
            <a:ext cx="457200" cy="457200"/>
          </a:xfrm>
          <a:prstGeom prst="rect">
            <a:avLst/>
          </a:prstGeom>
          <a:noFill/>
          <a:ln/>
        </p:spPr>
        <p:txBody>
          <a:bodyPr wrap="square" lIns="0" tIns="0" rIns="0" bIns="0" rtlCol="0" anchor="ctr"/>
          <a:lstStyle/>
          <a:p>
            <a:pPr algn="ctr" indent="0" marL="0">
              <a:buNone/>
            </a:pPr>
            <a:r>
              <a:rPr lang="en-US" sz="1500" b="1" dirty="0">
                <a:solidFill>
                  <a:srgbClr val="0D3B4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325880" y="4078224"/>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Bajo revisión continua</a:t>
            </a:r>
            <a:endParaRPr lang="en-US" sz="1800" dirty="0"/>
          </a:p>
        </p:txBody>
      </p:sp>
      <p:sp>
        <p:nvSpPr>
          <p:cNvPr id="15" name="Text 13"/>
          <p:cNvSpPr/>
          <p:nvPr/>
        </p:nvSpPr>
        <p:spPr>
          <a:xfrm>
            <a:off x="1325880" y="4434840"/>
            <a:ext cx="9692640" cy="658368"/>
          </a:xfrm>
          <a:prstGeom prst="rect">
            <a:avLst/>
          </a:prstGeom>
          <a:noFill/>
          <a:ln/>
        </p:spPr>
        <p:txBody>
          <a:bodyPr wrap="square" lIns="0" tIns="0" rIns="0" bIns="0" rtlCol="0" anchor="ctr"/>
          <a:lstStyle/>
          <a:p>
            <a:pPr indent="0" marL="0">
              <a:buNone/>
            </a:pPr>
            <a:r>
              <a:rPr lang="en-US" sz="1350" dirty="0">
                <a:solidFill>
                  <a:srgbClr val="A8C6D2"/>
                </a:solidFill>
                <a:latin typeface="Calibri" pitchFamily="34" charset="0"/>
                <a:ea typeface="Calibri" pitchFamily="34" charset="-122"/>
                <a:cs typeface="Calibri" pitchFamily="34" charset="-120"/>
              </a:rPr>
              <a:t>Seguimiento trimestral de su desempeño, con la alerta de 2024-2025 explícitamente monitoreada.</a:t>
            </a:r>
            <a:endParaRPr lang="en-US" sz="1350" dirty="0"/>
          </a:p>
        </p:txBody>
      </p:sp>
      <p:sp>
        <p:nvSpPr>
          <p:cNvPr id="16" name="Shape 14"/>
          <p:cNvSpPr/>
          <p:nvPr/>
        </p:nvSpPr>
        <p:spPr>
          <a:xfrm>
            <a:off x="640080" y="5349240"/>
            <a:ext cx="10881360" cy="960120"/>
          </a:xfrm>
          <a:prstGeom prst="roundRect">
            <a:avLst>
              <a:gd name="adj" fmla="val 8571"/>
            </a:avLst>
          </a:prstGeom>
          <a:solidFill>
            <a:srgbClr val="164B62"/>
          </a:solidFill>
          <a:ln w="12700">
            <a:solidFill>
              <a:srgbClr val="333333"/>
            </a:solidFill>
            <a:prstDash val="solid"/>
          </a:ln>
        </p:spPr>
      </p:sp>
      <p:sp>
        <p:nvSpPr>
          <p:cNvPr id="17" name="Text 15"/>
          <p:cNvSpPr/>
          <p:nvPr/>
        </p:nvSpPr>
        <p:spPr>
          <a:xfrm>
            <a:off x="1005840" y="5486400"/>
            <a:ext cx="10149840" cy="6858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Próximo paso: verificar que la señal mejora una decisión concreta de portafolio —no solo una métrica estadística— antes de darle mayor peso.</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2026-07-23T12:53:45Z</dcterms:created>
  <dcterms:modified xsi:type="dcterms:W3CDTF">2026-07-23T12:53:45Z</dcterms:modified>
</cp:coreProperties>
</file>